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9144000" cy="6858000" type="screen4x3"/>
  <p:notesSz cx="9144000" cy="6858000"/>
  <p:embeddedFontLst>
    <p:embeddedFont>
      <p:font typeface="Noto Sans Symbols" panose="020B0604020202020204" charset="0"/>
      <p:regular r:id="rId92"/>
      <p:bold r:id="rId93"/>
    </p:embeddedFont>
    <p:embeddedFont>
      <p:font typeface="Proxima Nova" panose="020B0604020202020204" charset="0"/>
      <p:regular r:id="rId94"/>
      <p:bold r:id="rId95"/>
      <p:italic r:id="rId96"/>
      <p:boldItalic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gE3nVOCnsrEU6T2QHIbRI/qii/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6B8A25-AD9E-4250-A1AC-CF39A5A7DC7E}">
  <a:tblStyle styleId="{CB6B8A25-AD9E-4250-A1AC-CF39A5A7DC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710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4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6.fntdata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b71fc23f3_0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bb71fc23f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b71fc23f3_0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bb71fc23f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b71fc23f3_0_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bb71fc23f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b71fc23f3_0_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bb71fc23f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bc61c32da_4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bbc61c32da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bc61c32da_4_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bbc61c32da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3"/>
          <p:cNvSpPr txBox="1">
            <a:spLocks noGrp="1"/>
          </p:cNvSpPr>
          <p:nvPr>
            <p:ph type="body" idx="1"/>
          </p:nvPr>
        </p:nvSpPr>
        <p:spPr>
          <a:xfrm>
            <a:off x="306387" y="1098550"/>
            <a:ext cx="8364220" cy="441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5"/>
          <p:cNvSpPr txBox="1">
            <a:spLocks noGrp="1"/>
          </p:cNvSpPr>
          <p:nvPr>
            <p:ph type="ctrTitle"/>
          </p:nvPr>
        </p:nvSpPr>
        <p:spPr>
          <a:xfrm>
            <a:off x="306387" y="185420"/>
            <a:ext cx="6531609" cy="54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5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6"/>
          <p:cNvSpPr/>
          <p:nvPr/>
        </p:nvSpPr>
        <p:spPr>
          <a:xfrm>
            <a:off x="228600" y="8001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2993" y="0"/>
                </a:lnTo>
              </a:path>
            </a:pathLst>
          </a:custGeom>
          <a:noFill/>
          <a:ln w="28550" cap="flat" cmpd="sng">
            <a:solidFill>
              <a:srgbClr val="021E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16"/>
          <p:cNvSpPr/>
          <p:nvPr/>
        </p:nvSpPr>
        <p:spPr>
          <a:xfrm>
            <a:off x="152400" y="6505575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2993" y="0"/>
                </a:lnTo>
              </a:path>
            </a:pathLst>
          </a:custGeom>
          <a:noFill/>
          <a:ln w="12675" cap="flat" cmpd="sng">
            <a:solidFill>
              <a:srgbClr val="021E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400" y="457200"/>
            <a:ext cx="7850187" cy="3338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6837" y="1300162"/>
            <a:ext cx="225424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0237" y="2890837"/>
            <a:ext cx="225424" cy="153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7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7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2"/>
          <p:cNvSpPr/>
          <p:nvPr/>
        </p:nvSpPr>
        <p:spPr>
          <a:xfrm>
            <a:off x="228600" y="8001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2993" y="0"/>
                </a:lnTo>
              </a:path>
            </a:pathLst>
          </a:custGeom>
          <a:noFill/>
          <a:ln w="28550" cap="flat" cmpd="sng">
            <a:solidFill>
              <a:srgbClr val="021E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12"/>
          <p:cNvSpPr/>
          <p:nvPr/>
        </p:nvSpPr>
        <p:spPr>
          <a:xfrm>
            <a:off x="152400" y="6505575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2993" y="0"/>
                </a:lnTo>
              </a:path>
            </a:pathLst>
          </a:custGeom>
          <a:noFill/>
          <a:ln w="12675" cap="flat" cmpd="sng">
            <a:solidFill>
              <a:srgbClr val="021E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1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12"/>
          <p:cNvSpPr txBox="1">
            <a:spLocks noGrp="1"/>
          </p:cNvSpPr>
          <p:nvPr>
            <p:ph type="body" idx="1"/>
          </p:nvPr>
        </p:nvSpPr>
        <p:spPr>
          <a:xfrm>
            <a:off x="306387" y="1098550"/>
            <a:ext cx="8364220" cy="441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775" cy="21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1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5F5F5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89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/>
        </p:nvSpPr>
        <p:spPr>
          <a:xfrm>
            <a:off x="238200" y="225175"/>
            <a:ext cx="61434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99"/>
                </a:solidFill>
                <a:latin typeface="Proxima Nova"/>
                <a:ea typeface="Proxima Nova"/>
                <a:cs typeface="Proxima Nova"/>
                <a:sym typeface="Proxima Nova"/>
              </a:rPr>
              <a:t>Searching Techniques</a:t>
            </a:r>
            <a:endParaRPr sz="3000" b="1">
              <a:solidFill>
                <a:srgbClr val="0000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38200" y="1405600"/>
            <a:ext cx="8667600" cy="4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575" rIns="0" bIns="0" anchor="t" anchorCtr="0">
            <a:spAutoFit/>
          </a:bodyPr>
          <a:lstStyle/>
          <a:p>
            <a:pPr marL="280670" lvl="0" indent="-2489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roxima Nova"/>
              <a:buChar char="•"/>
            </a:pPr>
            <a:r>
              <a:rPr lang="en-US" sz="2900">
                <a:latin typeface="Proxima Nova"/>
                <a:ea typeface="Proxima Nova"/>
                <a:cs typeface="Proxima Nova"/>
                <a:sym typeface="Proxima Nova"/>
              </a:rPr>
              <a:t>One of the most basic techniques in AI</a:t>
            </a:r>
            <a:endParaRPr sz="2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Underlying sub-­‐module in most AI systems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6094" lvl="0" indent="-247650" algn="l" rtl="0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SzPts val="2900"/>
              <a:buFont typeface="Proxima Nova"/>
              <a:buChar char="•"/>
            </a:pPr>
            <a:r>
              <a:rPr lang="en-US" sz="2900">
                <a:latin typeface="Proxima Nova"/>
                <a:ea typeface="Proxima Nova"/>
                <a:cs typeface="Proxima Nova"/>
                <a:sym typeface="Proxima Nova"/>
              </a:rPr>
              <a:t>Can solve many problems that humans are not good at (achieving super-­‐human performance)</a:t>
            </a:r>
            <a:endParaRPr sz="2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06094" lvl="0" indent="0" algn="l" rtl="0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endParaRPr sz="2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47650" algn="l" rtl="0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ts val="2900"/>
              <a:buFont typeface="Proxima Nova"/>
              <a:buChar char="•"/>
            </a:pPr>
            <a:r>
              <a:rPr lang="en-US" sz="2900">
                <a:latin typeface="Proxima Nova"/>
                <a:ea typeface="Proxima Nova"/>
                <a:cs typeface="Proxima Nova"/>
                <a:sym typeface="Proxima Nova"/>
              </a:rPr>
              <a:t>Useful as a general algorithmic technique for solving many non-­‐AI problems.</a:t>
            </a:r>
            <a:endParaRPr sz="29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How do we plan our holiday?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306375" y="942850"/>
            <a:ext cx="8511600" cy="54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79400" marR="76073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Required: various preferences and constraints to develop a schedule.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76073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81305" lvl="0" indent="-249555" algn="l" rtl="0">
              <a:lnSpc>
                <a:spcPct val="115000"/>
              </a:lnSpc>
              <a:spcBef>
                <a:spcPts val="61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An important technique in developing such a schedule is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r>
              <a:rPr lang="en-US" sz="25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hypothetical</a:t>
            </a: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” reasoning.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95"/>
              </a:spcBef>
              <a:spcAft>
                <a:spcPts val="0"/>
              </a:spcAft>
              <a:buNone/>
            </a:pP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81305" lvl="0" indent="-2495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Example: On holiday in England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54000" algn="l" rtl="0">
              <a:lnSpc>
                <a:spcPct val="115000"/>
              </a:lnSpc>
              <a:spcBef>
                <a:spcPts val="545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Currently in Edinburgh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5400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Flight leaves tomorrow from London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9150" lvl="2" indent="-24130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Need plan to get to the plane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2800" marR="5080" lvl="2" indent="-234950" algn="l" rtl="0">
              <a:lnSpc>
                <a:spcPct val="115000"/>
              </a:lnSpc>
              <a:spcBef>
                <a:spcPts val="575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If I take a 6 am train where will I be at 2 pm? Will I be still able to get to the airport on time?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How do we plan our holiday?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306374" y="1022100"/>
            <a:ext cx="8610600" cy="4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845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Char char="•"/>
            </a:pP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This kind of hypothetical reasoning involves asking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marR="571500" lvl="1" indent="-254000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What state will I be in after taking certain actions, or after certain sequences of events?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71500" lvl="0" indent="0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None/>
            </a:pP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92100" marR="5080" lvl="0" indent="-266700" algn="l" rtl="0">
              <a:lnSpc>
                <a:spcPct val="115000"/>
              </a:lnSpc>
              <a:spcBef>
                <a:spcPts val="585"/>
              </a:spcBef>
              <a:spcAft>
                <a:spcPts val="0"/>
              </a:spcAft>
              <a:buSzPts val="2600"/>
              <a:buFont typeface="Proxima Nova"/>
              <a:buChar char="•"/>
            </a:pP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Reason about particular sequences of events or actions one should try to bring about to achieve a desirable state.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080" lvl="0" indent="0" algn="l" rtl="0">
              <a:lnSpc>
                <a:spcPct val="115000"/>
              </a:lnSpc>
              <a:spcBef>
                <a:spcPts val="585"/>
              </a:spcBef>
              <a:spcAft>
                <a:spcPts val="0"/>
              </a:spcAft>
              <a:buNone/>
            </a:pP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92100" marR="775970" lvl="0" indent="-266700" algn="l" rtl="0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2600"/>
              <a:buFont typeface="Proxima Nova"/>
              <a:buChar char="•"/>
            </a:pP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Search is a computational method for encapsulating such kind of reasoning.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Many problems can be solved by search: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grpSp>
        <p:nvGrpSpPr>
          <p:cNvPr id="74" name="Google Shape;74;p4"/>
          <p:cNvGrpSpPr/>
          <p:nvPr/>
        </p:nvGrpSpPr>
        <p:grpSpPr>
          <a:xfrm>
            <a:off x="1362043" y="1028700"/>
            <a:ext cx="6999355" cy="5248275"/>
            <a:chOff x="1362043" y="1028700"/>
            <a:chExt cx="6999355" cy="5248275"/>
          </a:xfrm>
        </p:grpSpPr>
        <p:pic>
          <p:nvPicPr>
            <p:cNvPr id="75" name="Google Shape;7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62043" y="1028700"/>
              <a:ext cx="6999355" cy="5248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4"/>
            <p:cNvSpPr txBox="1"/>
            <p:nvPr/>
          </p:nvSpPr>
          <p:spPr>
            <a:xfrm>
              <a:off x="7493175" y="5786125"/>
              <a:ext cx="575700" cy="242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Why Search?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267300" y="958888"/>
            <a:ext cx="8609400" cy="52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281305" lvl="0" indent="-2305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Successful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3495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Success in game playing programs based on search.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34950" algn="l" rtl="0">
              <a:lnSpc>
                <a:spcPct val="115000"/>
              </a:lnSpc>
              <a:spcBef>
                <a:spcPts val="219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Many other AI problems can be successfully solved by search.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219"/>
              </a:spcBef>
              <a:spcAft>
                <a:spcPts val="0"/>
              </a:spcAft>
              <a:buNone/>
            </a:pP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81305" lvl="0" indent="-230505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Practical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5080" lvl="1" indent="-228600" algn="l" rtl="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Many problems do not have specific algorithms for solving them. Casting as search problems is often the easiest way of solving them.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75565" lvl="1" indent="-228600" algn="l" rtl="0">
              <a:lnSpc>
                <a:spcPct val="115000"/>
              </a:lnSpc>
              <a:spcBef>
                <a:spcPts val="68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Search can also be useful in approximation (e.g., local search in optimization problems).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838835" lvl="1" indent="-228600" algn="l" rtl="0">
              <a:lnSpc>
                <a:spcPct val="115000"/>
              </a:lnSpc>
              <a:spcBef>
                <a:spcPts val="58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Problem specific heuristics provides search with a way of exploiting extra knowledge.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8835" lvl="0" indent="0" algn="l" rtl="0">
              <a:lnSpc>
                <a:spcPct val="115000"/>
              </a:lnSpc>
              <a:spcBef>
                <a:spcPts val="580"/>
              </a:spcBef>
              <a:spcAft>
                <a:spcPts val="0"/>
              </a:spcAft>
              <a:buNone/>
            </a:pP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897255" lvl="0" indent="-228600" algn="l" rtl="0">
              <a:lnSpc>
                <a:spcPct val="115000"/>
              </a:lnSpc>
              <a:spcBef>
                <a:spcPts val="69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Some critical aspects of intelligent behaviour, e.g., planning, can be naturally cast as search.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Limitations of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266700" y="1098550"/>
            <a:ext cx="86106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2100" marR="508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There are many difficult questions that are not resolved by search. In particular, the whole question of how does an intelligent system formulate the problem it wants to solve as a search problem is not addressed by search.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25"/>
              </a:spcBef>
              <a:spcAft>
                <a:spcPts val="0"/>
              </a:spcAft>
              <a:buSzPts val="2800"/>
              <a:buFont typeface="Calibri"/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92100" marR="3683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Search only shows how to solve the problem once we have it correctly formulated.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Representing a problem: The Formalism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244200" y="986125"/>
            <a:ext cx="8655600" cy="52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To formulate a problem as a search problem we need: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207645" lvl="0" indent="-279400" algn="l" rtl="0">
              <a:lnSpc>
                <a:spcPct val="115000"/>
              </a:lnSpc>
              <a:spcBef>
                <a:spcPts val="530"/>
              </a:spcBef>
              <a:spcAft>
                <a:spcPts val="0"/>
              </a:spcAft>
              <a:buSzPts val="1700"/>
              <a:buFont typeface="Proxima Nova"/>
              <a:buAutoNum type="arabicPeriod"/>
            </a:pP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STATE SPACE: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Formulate a </a:t>
            </a: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state space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over which we perform search. The state space is a computational representation of the states (configurations of situations) of the real problem.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207645" lvl="0" indent="-171450" algn="l" rtl="0">
              <a:lnSpc>
                <a:spcPct val="115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212090" lvl="0" indent="-279400" algn="l" rtl="0">
              <a:lnSpc>
                <a:spcPct val="115000"/>
              </a:lnSpc>
              <a:spcBef>
                <a:spcPts val="605"/>
              </a:spcBef>
              <a:spcAft>
                <a:spcPts val="0"/>
              </a:spcAft>
              <a:buSzPts val="1700"/>
              <a:buFont typeface="Proxima Nova"/>
              <a:buAutoNum type="arabicPeriod"/>
            </a:pP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ACTIONS or STATE SPACE Transitions: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Formulate </a:t>
            </a: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actions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that allow one to move between different states. Actions reflect steps one can take in the real problem but operate on the state space instead.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212090" lvl="0" indent="0" algn="l" rtl="0">
              <a:lnSpc>
                <a:spcPct val="115000"/>
              </a:lnSpc>
              <a:spcBef>
                <a:spcPts val="605"/>
              </a:spcBef>
              <a:spcAft>
                <a:spcPts val="0"/>
              </a:spcAft>
              <a:buNone/>
            </a:pP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60325" lvl="0" indent="-279400" algn="l" rtl="0">
              <a:lnSpc>
                <a:spcPct val="115000"/>
              </a:lnSpc>
              <a:spcBef>
                <a:spcPts val="53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or START STATE and GOAL: </a:t>
            </a: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 the </a:t>
            </a: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state </a:t>
            </a: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that best represents the starting conditions, and the goal or condition one wants to achieve.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60325" lvl="0" indent="-171450" algn="l" rtl="0">
              <a:lnSpc>
                <a:spcPct val="115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marR="175895" lvl="0" indent="-279400" algn="l" rtl="0">
              <a:lnSpc>
                <a:spcPct val="115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Heuristics: </a:t>
            </a: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Formulate various </a:t>
            </a: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heuristics </a:t>
            </a: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(factors)</a:t>
            </a: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 help guide the search process.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roxima Nova"/>
                <a:ea typeface="Proxima Nova"/>
                <a:cs typeface="Proxima Nova"/>
                <a:sym typeface="Proxima Nova"/>
              </a:rPr>
              <a:t>The Formalism</a:t>
            </a:r>
            <a:endParaRPr sz="3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1"/>
          </p:nvPr>
        </p:nvSpPr>
        <p:spPr>
          <a:xfrm>
            <a:off x="306375" y="1098550"/>
            <a:ext cx="86106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146555" lvl="0" indent="0" algn="l" rtl="0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Once the problem has been formulated as a state space search, various algorithms can be utilized to solve the problem.</a:t>
            </a:r>
            <a:endParaRPr sz="21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marR="146555" lvl="0" indent="0" algn="l" rtl="0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080" lvl="0" indent="0" algn="l" rtl="0">
              <a:lnSpc>
                <a:spcPct val="101099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solution to the problem will be a sequence of actions / moves that can transform the current state into a state where the desired ‘goal’ condition holds.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ctrTitle"/>
          </p:nvPr>
        </p:nvSpPr>
        <p:spPr>
          <a:xfrm>
            <a:off x="306387" y="185420"/>
            <a:ext cx="65316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Example 1: Romania Travel.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14" name="Google Shape;114;p11"/>
          <p:cNvGrpSpPr/>
          <p:nvPr/>
        </p:nvGrpSpPr>
        <p:grpSpPr>
          <a:xfrm>
            <a:off x="736073" y="2514600"/>
            <a:ext cx="7569726" cy="3810000"/>
            <a:chOff x="736073" y="2514600"/>
            <a:chExt cx="7569726" cy="3810000"/>
          </a:xfrm>
        </p:grpSpPr>
        <p:pic>
          <p:nvPicPr>
            <p:cNvPr id="115" name="Google Shape;115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6073" y="2514600"/>
              <a:ext cx="7569726" cy="381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3949" y="3448050"/>
              <a:ext cx="165099" cy="165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40350" y="5340350"/>
              <a:ext cx="165099" cy="165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1"/>
          <p:cNvSpPr txBox="1"/>
          <p:nvPr/>
        </p:nvSpPr>
        <p:spPr>
          <a:xfrm>
            <a:off x="266700" y="1219213"/>
            <a:ext cx="8610600" cy="7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Currently in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Arad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, need to get to </a:t>
            </a:r>
            <a:r>
              <a:rPr lang="en-US" sz="2200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Bucharest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by tomorrow to catch a flight. What is the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State Space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1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Example 1.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230175" y="1022100"/>
            <a:ext cx="87318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81305" lvl="0" indent="-2432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•"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State space: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47650" algn="l" rtl="0">
              <a:lnSpc>
                <a:spcPct val="115000"/>
              </a:lnSpc>
              <a:spcBef>
                <a:spcPts val="5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States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the various cities you could be located in.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2800" marR="5080" lvl="2" indent="-228600" algn="l" rtl="0">
              <a:lnSpc>
                <a:spcPct val="115000"/>
              </a:lnSpc>
              <a:spcBef>
                <a:spcPts val="76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Abstraction: Ignoring low level details of driving, where on the road between cities, etc.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47650" algn="l" rtl="0">
              <a:lnSpc>
                <a:spcPct val="115000"/>
              </a:lnSpc>
              <a:spcBef>
                <a:spcPts val="5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Actions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drive between neighboring cities.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4765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state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in Arad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161277" lvl="1" indent="-2413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Desired condition (Goal)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be in a state where you are in Bucharest. (How many states satisfy this condition?)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014094" lvl="0" indent="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6225" marR="762635" lvl="0" indent="-238125" algn="l" rtl="0">
              <a:lnSpc>
                <a:spcPct val="115000"/>
              </a:lnSpc>
              <a:spcBef>
                <a:spcPts val="820"/>
              </a:spcBef>
              <a:spcAft>
                <a:spcPts val="0"/>
              </a:spcAft>
              <a:buSzPts val="2400"/>
              <a:buFont typeface="Proxima Nova"/>
              <a:buChar char="•"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Solution: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76263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The sequence of cities one must to travel through to get to Bucharest.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Example 2: Filling Water Jugs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1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206100" y="1022100"/>
            <a:ext cx="8731800" cy="46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Statement:</a:t>
            </a: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080" lvl="0" indent="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We have a 3 gallon jug and a 4 gallon jug. We can fill either jug to the top from a tap, we can empty either jug, or we can pour one jug into the other (at least until the other jug is full).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080" lvl="0" indent="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143510" lvl="1" indent="-241300" algn="just" rtl="0">
              <a:lnSpc>
                <a:spcPct val="115000"/>
              </a:lnSpc>
              <a:spcBef>
                <a:spcPts val="61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States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pairs of numbers (gal3, gal4) where gal3 is the number of gallons in the 3 gallon jug, and gal4 is the number of gallons in the 4 gallon jug.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296545" lvl="1" indent="-241300" algn="just" rtl="0">
              <a:lnSpc>
                <a:spcPct val="115000"/>
              </a:lnSpc>
              <a:spcBef>
                <a:spcPts val="55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Actions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Empty-­‐3-­‐Gallon, Empty-­‐4-­‐Gallon, Fill-­‐3-­‐Gallon, Fill-­‐4-­‐ Gallon, Pour-­‐3-­‐into-­‐4, Pour 4-­‐into-­‐3.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47650" algn="just" rtl="0">
              <a:lnSpc>
                <a:spcPct val="115000"/>
              </a:lnSpc>
              <a:spcBef>
                <a:spcPts val="5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state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Various, e.g., (0,0)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321945" lvl="1" indent="-241300" algn="just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Desired condition (Goal)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Various, e.g., (0, 2) or (*, 3) where * means we don't care.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Example 2.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30174" y="1022100"/>
            <a:ext cx="8686800" cy="3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81305" lvl="0" indent="-2559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Char char="•"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Some observations: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271145" lvl="1" indent="-254000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If we start off with gal3 and gal4 as an integer, we can only reach integer values.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6100" marR="195580" lvl="1" indent="-254000" algn="l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Some values, e.g., (1,2) are not reachable from some initial state, e.g., (0,0).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1" indent="-260350" algn="l" rtl="0">
              <a:lnSpc>
                <a:spcPct val="115000"/>
              </a:lnSpc>
              <a:spcBef>
                <a:spcPts val="59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Some actions do not change the state, 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368300" algn="l" rtl="0">
              <a:lnSpc>
                <a:spcPct val="115000"/>
              </a:lnSpc>
              <a:spcBef>
                <a:spcPts val="59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e.g., (0,0) → Empty-­‐3-­‐Gallon 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 (0,0)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Algorithms for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253950" y="939175"/>
            <a:ext cx="8636100" cy="43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Inputs: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697230" lvl="0" indent="-214629" algn="l" rtl="0">
              <a:lnSpc>
                <a:spcPct val="115000"/>
              </a:lnSpc>
              <a:spcBef>
                <a:spcPts val="51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A specified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state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(a specific world state)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96595" marR="53339" lvl="0" indent="-214629" algn="l" rtl="0">
              <a:lnSpc>
                <a:spcPct val="115000"/>
              </a:lnSpc>
              <a:spcBef>
                <a:spcPts val="76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A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successor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function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S(x)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= {set of states that can be reached 	from state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x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via a single action}.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96595" marR="699770" lvl="0" indent="-214628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A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goal test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a function that can be applied to a state and 	returns true if the state satisfies the goal condition.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96595" marR="699770" lvl="0" indent="-214628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An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action cost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function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C(x,a,y)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which determines the cost of moving from state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x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to state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using action </a:t>
            </a:r>
            <a:r>
              <a:rPr lang="en-US" sz="22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 → (C(x,a,y) = ∞ if </a:t>
            </a:r>
            <a:r>
              <a:rPr lang="en-US" sz="22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 does not yield </a:t>
            </a:r>
            <a:r>
              <a:rPr lang="en-US" sz="22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 from </a:t>
            </a:r>
            <a:r>
              <a:rPr lang="en-US" sz="22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). 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96595" marR="699770" lvl="0" indent="-214628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Different actions might generate the same move of x 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 y.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Algorithms for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98500" y="1032775"/>
            <a:ext cx="8783400" cy="3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Output: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697230" marR="321310" lvl="0" indent="-214628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Sequence of states leading from the initial state to a state that satisfies the goal test.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321310" lvl="0" indent="0" algn="l" rtl="0">
              <a:lnSpc>
                <a:spcPct val="115000"/>
              </a:lnSpc>
              <a:spcBef>
                <a:spcPts val="475"/>
              </a:spcBef>
              <a:spcAft>
                <a:spcPts val="0"/>
              </a:spcAft>
              <a:buNone/>
            </a:pP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97230" marR="5080" lvl="0" indent="-214628" algn="l" rtl="0">
              <a:lnSpc>
                <a:spcPct val="115000"/>
              </a:lnSpc>
              <a:spcBef>
                <a:spcPts val="464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The sequence might be: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5080" lvl="0" indent="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xima Nova"/>
              <a:buChar char="●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Optimal in cost for some algorithms,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5080" lvl="0" indent="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xima Nova"/>
              <a:buChar char="●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Optimal in length for some algorithms,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5080" lvl="0" indent="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xima Nova"/>
              <a:buChar char="●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Come with no optimality guarantees from other algorithms.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Algorithms for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315000" y="931300"/>
            <a:ext cx="8657100" cy="5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Obtaining the action sequence:</a:t>
            </a:r>
            <a:endParaRPr sz="25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marR="645160" lvl="0" indent="-247650" algn="l" rtl="0">
              <a:lnSpc>
                <a:spcPct val="104999"/>
              </a:lnSpc>
              <a:spcBef>
                <a:spcPts val="64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The set of successors of a state 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x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might arise from different actions, e.g.,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9150" lvl="1" indent="-2413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x → a → y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9150" lvl="1" indent="-2413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x → b → z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5080" lvl="0" indent="-298450" algn="l" rtl="0">
              <a:lnSpc>
                <a:spcPct val="104999"/>
              </a:lnSpc>
              <a:spcBef>
                <a:spcPts val="70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Successor function S(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) yields a set of states that can be reached from 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x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via </a:t>
            </a:r>
            <a:r>
              <a:rPr lang="en-US" sz="2100" b="1">
                <a:latin typeface="Proxima Nova"/>
                <a:ea typeface="Proxima Nova"/>
                <a:cs typeface="Proxima Nova"/>
                <a:sym typeface="Proxima Nova"/>
              </a:rPr>
              <a:t>any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single action.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12800" marR="582930" lvl="1" indent="-234950" algn="l" rtl="0">
              <a:lnSpc>
                <a:spcPct val="109166"/>
              </a:lnSpc>
              <a:spcBef>
                <a:spcPts val="58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Rather than just return a set of states, we annotate these states by the action used to obtain them: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082675" lvl="2" indent="-250825" algn="l" rtl="0">
              <a:lnSpc>
                <a:spcPct val="114583"/>
              </a:lnSpc>
              <a:spcBef>
                <a:spcPts val="259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S(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) = {&lt;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,a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&gt;, &lt;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z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&gt;}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0922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via action 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z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via action 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082675" lvl="2" indent="-250825" algn="l" rtl="0">
              <a:lnSpc>
                <a:spcPct val="112500"/>
              </a:lnSpc>
              <a:spcBef>
                <a:spcPts val="295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S(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) = {&lt;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&gt;, &lt;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&gt;}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09220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via action 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 also </a:t>
            </a:r>
            <a:r>
              <a:rPr lang="en-US" sz="2100">
                <a:solidFill>
                  <a:srgbClr val="336600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via alternative action 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Template for Search Algorithms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2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178200" y="953788"/>
            <a:ext cx="8787600" cy="54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5600" marR="210901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Search space consists of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states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actions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54673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55600" marR="1778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A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path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in the search space =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sequence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of states connected by actions, &lt;s</a:t>
            </a:r>
            <a:r>
              <a:rPr lang="en-US" sz="2000" baseline="-250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, s</a:t>
            </a:r>
            <a:r>
              <a:rPr lang="en-US" sz="2000" baseline="-25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, s</a:t>
            </a:r>
            <a:r>
              <a:rPr lang="en-US" sz="2000" baseline="-25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, …, s</a:t>
            </a:r>
            <a:r>
              <a:rPr lang="en-US" sz="2000" baseline="-25000">
                <a:latin typeface="Proxima Nova"/>
                <a:ea typeface="Proxima Nova"/>
                <a:cs typeface="Proxima Nova"/>
                <a:sym typeface="Proxima Nova"/>
              </a:rPr>
              <a:t>k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&gt;,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177800" lvl="1" indent="-330200" algn="l" rtl="0">
              <a:lnSpc>
                <a:spcPct val="115000"/>
              </a:lnSpc>
              <a:spcBef>
                <a:spcPts val="655"/>
              </a:spcBef>
              <a:spcAft>
                <a:spcPts val="0"/>
              </a:spcAft>
              <a:buSzPts val="1600"/>
              <a:buFont typeface="Calibri"/>
              <a:buChar char="•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For every s</a:t>
            </a:r>
            <a:r>
              <a:rPr lang="en-US" sz="1600" baseline="-25000"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and its successor s</a:t>
            </a:r>
            <a:r>
              <a:rPr lang="en-US" sz="1600" baseline="-25000">
                <a:latin typeface="Proxima Nova"/>
                <a:ea typeface="Proxima Nova"/>
                <a:cs typeface="Proxima Nova"/>
                <a:sym typeface="Proxima Nova"/>
              </a:rPr>
              <a:t>i+1 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there must exist an action a</a:t>
            </a:r>
            <a:r>
              <a:rPr lang="en-US" sz="1600" baseline="-25000"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that transitions s</a:t>
            </a:r>
            <a:r>
              <a:rPr lang="en-US" sz="1600" baseline="-25000"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to s</a:t>
            </a:r>
            <a:r>
              <a:rPr lang="en-US" sz="1600" baseline="-25000">
                <a:latin typeface="Proxima Nova"/>
                <a:ea typeface="Proxima Nova"/>
                <a:cs typeface="Proxima Nova"/>
                <a:sym typeface="Proxima Nova"/>
              </a:rPr>
              <a:t>i+1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●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Alternately a path can be specified by: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AutoNum type="alphaLcParenBoth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An initial state s</a:t>
            </a:r>
            <a:r>
              <a:rPr lang="en-US" sz="1550" baseline="-250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, and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AutoNum type="alphaLcParenBoth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A sequence of actions that are applied in turn starting from s</a:t>
            </a:r>
            <a:r>
              <a:rPr lang="en-US" sz="1550" baseline="-250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55600" marR="1778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Search algorithms examine alternate paths of the search space; Objects used in the algorithm are identified as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nodes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—each node symbolizes a path comprising: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00100" marR="1778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•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n.STATE: the state in the state space to which the node corresponds;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00100" marR="1778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•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n.PARENT: the node in the search tree that generated this node;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00100" marR="1778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•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n.ACTION: the action that was applied to the parent to generate the node;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00100" marR="1778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•"/>
            </a:pPr>
            <a:r>
              <a:rPr lang="en-US" sz="1600">
                <a:latin typeface="Proxima Nova"/>
                <a:ea typeface="Proxima Nova"/>
                <a:cs typeface="Proxima Nova"/>
                <a:sym typeface="Proxima Nova"/>
              </a:rPr>
              <a:t>n.PATH-COST: the cost, traditionally denoted by g(n), of the path from the initial state to the node, as indicated by the parent pointers.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Template for Search Algorithms</a:t>
            </a:r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383549" y="1086900"/>
            <a:ext cx="8598300" cy="3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450" lvl="0" indent="-279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Proxima Nova"/>
              <a:buChar char="•"/>
            </a:pP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We maintain a set of </a:t>
            </a:r>
            <a:r>
              <a:rPr lang="en-US" sz="2300">
                <a:solidFill>
                  <a:srgbClr val="00CC00"/>
                </a:solidFill>
                <a:latin typeface="Proxima Nova"/>
                <a:ea typeface="Proxima Nova"/>
                <a:cs typeface="Proxima Nova"/>
                <a:sym typeface="Proxima Nova"/>
              </a:rPr>
              <a:t>Frontier 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nodes also called the </a:t>
            </a:r>
            <a:r>
              <a:rPr lang="en-US" sz="2300">
                <a:solidFill>
                  <a:srgbClr val="00CC00"/>
                </a:solidFill>
                <a:latin typeface="Proxima Nova"/>
                <a:ea typeface="Proxima Nova"/>
                <a:cs typeface="Proxima Nova"/>
                <a:sym typeface="Proxima Nova"/>
              </a:rPr>
              <a:t>OPEN 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set.</a:t>
            </a:r>
            <a:endParaRPr sz="2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65150" marR="136630" lvl="1" indent="-280035" algn="just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SzPts val="1900"/>
              <a:buFont typeface="Proxima Nova"/>
              <a:buChar char="•"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These nodes are paths in the search space that all start at the initial 	state.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65150" marR="419733" lvl="1" indent="-280035" algn="just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SzPts val="1900"/>
              <a:buFont typeface="Proxima Nova"/>
              <a:buChar char="•"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Set of all leaf nodes available for expansion at any given point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419734" lvl="0" indent="0" algn="just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98450" lvl="0" indent="-27940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SzPts val="2300"/>
              <a:buFont typeface="Proxima Nova"/>
              <a:buChar char="•"/>
            </a:pP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Initially we set </a:t>
            </a:r>
            <a:r>
              <a:rPr lang="en-US" sz="2300">
                <a:solidFill>
                  <a:srgbClr val="00CC00"/>
                </a:solidFill>
                <a:latin typeface="Proxima Nova"/>
                <a:ea typeface="Proxima Nova"/>
                <a:cs typeface="Proxima Nova"/>
                <a:sym typeface="Proxima Nova"/>
              </a:rPr>
              <a:t>OPEN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= {&lt;Start State&gt;}</a:t>
            </a:r>
            <a:endParaRPr sz="2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65785" lvl="1" indent="-280035" algn="just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SzPts val="1900"/>
              <a:buFont typeface="Proxima Nova"/>
              <a:buChar char="•"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The path (node) that starts and terminates at the start state.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92100" marR="5080" lvl="0" indent="-273050" algn="just" rtl="0">
              <a:lnSpc>
                <a:spcPct val="115000"/>
              </a:lnSpc>
              <a:spcBef>
                <a:spcPts val="635"/>
              </a:spcBef>
              <a:spcAft>
                <a:spcPts val="0"/>
              </a:spcAft>
              <a:buSzPts val="2300"/>
              <a:buFont typeface="Proxima Nova"/>
              <a:buChar char="•"/>
            </a:pP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At each step we select a node </a:t>
            </a:r>
            <a:r>
              <a:rPr lang="en-US" sz="23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from OPEN. Let </a:t>
            </a:r>
            <a:r>
              <a:rPr lang="en-US" sz="23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be the state </a:t>
            </a:r>
            <a:r>
              <a:rPr lang="en-US" sz="23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terminates at. We check if </a:t>
            </a:r>
            <a:r>
              <a:rPr lang="en-US" sz="23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satisfies the goal, if not we add all extensions of </a:t>
            </a:r>
            <a:r>
              <a:rPr lang="en-US" sz="2300">
                <a:solidFill>
                  <a:srgbClr val="FF2734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to </a:t>
            </a:r>
            <a:r>
              <a:rPr lang="en-US" sz="2300">
                <a:solidFill>
                  <a:srgbClr val="00CC00"/>
                </a:solidFill>
                <a:latin typeface="Proxima Nova"/>
                <a:ea typeface="Proxima Nova"/>
                <a:cs typeface="Proxima Nova"/>
                <a:sym typeface="Proxima Nova"/>
              </a:rPr>
              <a:t>OPEN</a:t>
            </a:r>
            <a:r>
              <a:rPr lang="en-US" sz="2300">
                <a:latin typeface="Proxima Nova"/>
                <a:ea typeface="Proxima Nova"/>
                <a:cs typeface="Proxima Nova"/>
                <a:sym typeface="Proxima Nova"/>
              </a:rPr>
              <a:t> (by finding all states in S(x)).</a:t>
            </a:r>
            <a:endParaRPr sz="23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Template for Search Algorithms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2" name="Google Shape;192;p24" title="Screenshot 2026-01-23 at 11.00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7095"/>
            <a:ext cx="8839197" cy="5259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443700" y="4130275"/>
            <a:ext cx="8332800" cy="21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159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</a:t>
            </a:r>
            <a:r>
              <a:rPr lang="en-US" sz="18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Arad&gt;</a:t>
            </a:r>
            <a:r>
              <a:rPr lang="en-US" sz="18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},</a:t>
            </a:r>
            <a:endParaRPr sz="18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15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44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</a:t>
            </a:r>
            <a:r>
              <a:rPr lang="en-US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&lt;A,Z&gt;, &lt;A,T&gt;, </a:t>
            </a:r>
            <a:r>
              <a:rPr lang="en-US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&lt;A, S&gt;</a:t>
            </a: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},</a:t>
            </a:r>
            <a:endParaRPr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762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</a:t>
            </a:r>
            <a:r>
              <a:rPr lang="en-US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&lt;A,S,A&gt;, &lt;A,S,O&gt;, </a:t>
            </a:r>
            <a:r>
              <a:rPr lang="en-US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&lt;A,S,F&gt;</a:t>
            </a:r>
            <a:r>
              <a:rPr lang="en-US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&lt;A,S,R&gt;</a:t>
            </a: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endParaRPr sz="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7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&lt;A,S,A&gt;, &lt;A,S,O&gt;, &lt;A,S,R&gt;, </a:t>
            </a:r>
            <a:r>
              <a:rPr lang="en-US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&lt;A,S,F,S&gt;, </a:t>
            </a:r>
            <a:r>
              <a:rPr lang="en-US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&lt;A,S,F,B&gt;</a:t>
            </a:r>
            <a:r>
              <a:rPr lang="en-US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155575" marR="694055" lvl="0" indent="-52068" algn="l" rtl="0">
              <a:lnSpc>
                <a:spcPct val="116666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</a:t>
            </a:r>
            <a:r>
              <a:rPr lang="en-US" sz="16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Arad → Sibiu → Fagaras → Bucharest </a:t>
            </a:r>
            <a:endParaRPr sz="1600" b="1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55575" marR="694055" lvl="0" indent="-52068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55575" marR="694055" lvl="0" indent="-52069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Cost</a:t>
            </a:r>
            <a:r>
              <a:rPr lang="en-US" sz="16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140  +  99  +  211  =  450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152400" y="595312"/>
            <a:ext cx="8915400" cy="548005"/>
          </a:xfrm>
          <a:custGeom>
            <a:avLst/>
            <a:gdLst/>
            <a:ahLst/>
            <a:cxnLst/>
            <a:rect l="l" t="t" r="r" b="b"/>
            <a:pathLst>
              <a:path w="8915400" h="548005" extrusionOk="0">
                <a:moveTo>
                  <a:pt x="1143000" y="0"/>
                </a:moveTo>
                <a:lnTo>
                  <a:pt x="0" y="0"/>
                </a:ln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close/>
              </a:path>
              <a:path w="8915400" h="548005" extrusionOk="0">
                <a:moveTo>
                  <a:pt x="8915400" y="90487"/>
                </a:moveTo>
                <a:lnTo>
                  <a:pt x="8305800" y="90487"/>
                </a:lnTo>
                <a:lnTo>
                  <a:pt x="8305800" y="547687"/>
                </a:lnTo>
                <a:lnTo>
                  <a:pt x="8915400" y="547687"/>
                </a:lnTo>
                <a:lnTo>
                  <a:pt x="8915400" y="904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/>
          <p:nvPr/>
        </p:nvSpPr>
        <p:spPr>
          <a:xfrm>
            <a:off x="152400" y="595312"/>
            <a:ext cx="8915400" cy="548005"/>
          </a:xfrm>
          <a:custGeom>
            <a:avLst/>
            <a:gdLst/>
            <a:ahLst/>
            <a:cxnLst/>
            <a:rect l="l" t="t" r="r" b="b"/>
            <a:pathLst>
              <a:path w="8915400" h="548005" extrusionOk="0">
                <a:moveTo>
                  <a:pt x="1143000" y="0"/>
                </a:moveTo>
                <a:lnTo>
                  <a:pt x="0" y="0"/>
                </a:ln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close/>
              </a:path>
              <a:path w="8915400" h="548005" extrusionOk="0">
                <a:moveTo>
                  <a:pt x="8915400" y="90487"/>
                </a:moveTo>
                <a:lnTo>
                  <a:pt x="8305800" y="90487"/>
                </a:lnTo>
                <a:lnTo>
                  <a:pt x="8305800" y="547687"/>
                </a:lnTo>
                <a:lnTo>
                  <a:pt x="8915400" y="547687"/>
                </a:lnTo>
                <a:lnTo>
                  <a:pt x="8915400" y="904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227850" y="3781300"/>
            <a:ext cx="8764500" cy="2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2571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</a:t>
            </a:r>
            <a:r>
              <a:rPr lang="en-US" sz="17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Arad&gt;</a:t>
            </a:r>
            <a:r>
              <a:rPr lang="en-US" sz="17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},</a:t>
            </a:r>
            <a:endParaRPr sz="17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571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07645" lvl="0" indent="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</a:t>
            </a:r>
            <a:r>
              <a:rPr lang="en-US" sz="13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&lt;A,Z&gt;, &lt;A,T&gt;, </a:t>
            </a:r>
            <a:r>
              <a:rPr lang="en-US" sz="1300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&lt;A, S&gt;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},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4257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</a:t>
            </a:r>
            <a:r>
              <a:rPr lang="en-US" sz="13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&lt;A,S,A&gt;, &lt;A,S,O&gt;, &lt;A,S,F&gt;, </a:t>
            </a:r>
            <a:r>
              <a:rPr lang="en-US" sz="1300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&lt;A</a:t>
            </a:r>
            <a:r>
              <a:rPr lang="en-US" sz="13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,S,R</a:t>
            </a:r>
            <a:r>
              <a:rPr lang="en-US" sz="1300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endParaRPr sz="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425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&lt;A,S,A&gt;, &lt;A,S,O&gt;, &lt;A,S,F&gt;, </a:t>
            </a:r>
            <a:r>
              <a:rPr lang="en-US" sz="13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&lt;A,S,R,S&gt;, &lt;A,S,R,C&gt;, </a:t>
            </a:r>
            <a:r>
              <a:rPr lang="en-US" sz="13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&lt;A,S,R,P&gt;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&lt;A,S,A&gt;, &lt;A,S,O&gt;, &lt;A,S,F&gt;, &lt;A,S,R,S&gt;, &lt;A,S,R,C&gt;, </a:t>
            </a:r>
            <a:r>
              <a:rPr lang="en-US" sz="13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&lt;A,S,R,P,R&gt;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3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&lt;A,S,R,P,C&gt;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300" b="1">
                <a:solidFill>
                  <a:srgbClr val="00B05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&lt;A,S,R,P,B&gt;</a:t>
            </a:r>
            <a:r>
              <a:rPr lang="en-US" sz="1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50190" marR="14732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Arad </a:t>
            </a:r>
            <a:r>
              <a:rPr lang="en-US" sz="17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Sibiu </a:t>
            </a:r>
            <a:r>
              <a:rPr lang="en-US" sz="17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Rimnicu Vilcea </a:t>
            </a:r>
            <a:r>
              <a:rPr lang="en-US" sz="17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Pitesti </a:t>
            </a:r>
            <a:r>
              <a:rPr lang="en-US" sz="17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Bucharest </a:t>
            </a:r>
            <a:endParaRPr sz="1700" b="1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50190" marR="14732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400" b="1">
              <a:solidFill>
                <a:srgbClr val="00AE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50190" marR="14732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Cost</a:t>
            </a:r>
            <a:r>
              <a:rPr lang="en-US" sz="17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140 +  80  +  97  +  101  =  </a:t>
            </a:r>
            <a:r>
              <a:rPr lang="en-US" sz="1700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418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152400" y="595312"/>
            <a:ext cx="8915400" cy="548005"/>
          </a:xfrm>
          <a:custGeom>
            <a:avLst/>
            <a:gdLst/>
            <a:ahLst/>
            <a:cxnLst/>
            <a:rect l="l" t="t" r="r" b="b"/>
            <a:pathLst>
              <a:path w="8915400" h="548005" extrusionOk="0">
                <a:moveTo>
                  <a:pt x="1143000" y="0"/>
                </a:moveTo>
                <a:lnTo>
                  <a:pt x="0" y="0"/>
                </a:ln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close/>
              </a:path>
              <a:path w="8915400" h="548005" extrusionOk="0">
                <a:moveTo>
                  <a:pt x="8915400" y="90487"/>
                </a:moveTo>
                <a:lnTo>
                  <a:pt x="8305800" y="90487"/>
                </a:lnTo>
                <a:lnTo>
                  <a:pt x="8305800" y="547687"/>
                </a:lnTo>
                <a:lnTo>
                  <a:pt x="8915400" y="547687"/>
                </a:lnTo>
                <a:lnTo>
                  <a:pt x="8915400" y="904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400200" y="4070725"/>
            <a:ext cx="8419800" cy="20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</a:t>
            </a:r>
            <a:r>
              <a:rPr lang="en-US" sz="17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Arad&gt;</a:t>
            </a:r>
            <a:r>
              <a:rPr lang="en-US" sz="17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},</a:t>
            </a:r>
            <a:endParaRPr sz="17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500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&lt;A, S&gt;},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17145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</a:t>
            </a:r>
            <a:r>
              <a:rPr lang="en-US" sz="15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&lt;A,S,A&gt;</a:t>
            </a:r>
            <a:r>
              <a:rPr lang="en-US" sz="15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&lt;A,S,O&gt;, &lt;A,S,F&gt;, &lt;A,S,R&gt;}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1714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{&lt;A,Z&gt;, &lt;A,T&gt;, </a:t>
            </a:r>
            <a:r>
              <a:rPr lang="en-US" sz="15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&lt;A,S,A&gt;</a:t>
            </a: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&lt;A,S,O&gt;, &lt;A,S,R&gt;, </a:t>
            </a:r>
            <a:r>
              <a:rPr lang="en-US" sz="15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&lt;A,S,F,S&gt;</a:t>
            </a: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, &lt;A,S,F,B&gt;}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1623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…..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cycles </a:t>
            </a:r>
            <a:r>
              <a:rPr lang="en-US" sz="23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can cause non-­‐termination!</a:t>
            </a:r>
            <a:endParaRPr sz="2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2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Selection Rule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306374" y="1098550"/>
            <a:ext cx="8610600" cy="3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The order of path selection from OPEN intuitively has a critical effect on the operation of the search: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60350" algn="l" rtl="0">
              <a:lnSpc>
                <a:spcPct val="115000"/>
              </a:lnSpc>
              <a:spcBef>
                <a:spcPts val="515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Whether or not a solution is found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6035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The cost of the solution found.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6035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The time and space required by the search.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None/>
            </a:pP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All search techniques keep OPEN as an ordered set (e.g., a priority queue) based on key parameters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Critical Properties of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3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156000" y="1108475"/>
            <a:ext cx="88320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79400" marR="210184" lvl="0" indent="-21590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Completeness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Will the search algorithm always find a solution if a solution exists?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749300" lvl="0" indent="-215900" algn="l" rtl="0">
              <a:lnSpc>
                <a:spcPct val="118892"/>
              </a:lnSpc>
              <a:spcBef>
                <a:spcPts val="74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Optimality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Will the search always find the least cost solution? (when actions have costs)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15900" algn="l" rtl="0">
              <a:lnSpc>
                <a:spcPct val="118892"/>
              </a:lnSpc>
              <a:spcBef>
                <a:spcPts val="74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Time complexity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How long does it take to find a solution?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830580" lvl="0" indent="-21590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Space complexity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: What is the maximum number of nodes (paths) that have to be stored in memory?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b71fc23f3_0_2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Food for Thought - I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8" name="Google Shape;238;g3bb71fc23f3_0_2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39" name="Google Shape;239;g3bb71fc23f3_0_2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240" name="Google Shape;240;g3bb71fc23f3_0_21"/>
          <p:cNvSpPr txBox="1"/>
          <p:nvPr/>
        </p:nvSpPr>
        <p:spPr>
          <a:xfrm>
            <a:off x="104400" y="1108475"/>
            <a:ext cx="8935200" cy="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0" marR="74021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Try formalizing the following situations in the form of a static and a dynamic search problem: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830580" lvl="0" indent="-35560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Making a cup of tea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830580" lvl="0" indent="-355600" algn="l" rtl="0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Purchasing a book from some e-commerce platform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830580" lvl="0" indent="-355600" algn="l" rtl="0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Identifying an example to share with the class to resolve queries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830580" lvl="0" indent="-355600" algn="l" rtl="0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-U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Differential diagnosis by a doctor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0580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Uninformed Search Strategies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3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140550" y="1174750"/>
            <a:ext cx="8862900" cy="3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79400" marR="5080" lvl="0" indent="-24765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These adopt a fixed rule for selecting the next state to be expanded.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661670" lvl="0" indent="-247650" algn="l" rtl="0">
              <a:lnSpc>
                <a:spcPct val="118892"/>
              </a:lnSpc>
              <a:spcBef>
                <a:spcPts val="745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The rule does not change irrespective of the search problem being solved.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307975" lvl="0" indent="-247650" algn="l" rtl="0">
              <a:lnSpc>
                <a:spcPct val="100099"/>
              </a:lnSpc>
              <a:spcBef>
                <a:spcPts val="60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These strategies do not take into account any domain specific information about the particular search problem.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81305" lvl="0" indent="-24955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Uninformed search techniques: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marR="96931" lvl="1" indent="-247650" algn="l" rtl="0">
              <a:lnSpc>
                <a:spcPct val="100800"/>
              </a:lnSpc>
              <a:spcBef>
                <a:spcPts val="430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Breadth-­First, Uniform-­Cost, Depth‐First, Depth­‐Limited, and Iterative­‐Deepening search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1714350" y="3053100"/>
            <a:ext cx="57153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Proxima Nova"/>
                <a:ea typeface="Proxima Nova"/>
                <a:cs typeface="Proxima Nova"/>
                <a:sym typeface="Proxima Nova"/>
              </a:rPr>
              <a:t>Breadth-­First Search</a:t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3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Breadth-­First Search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3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263" name="Google Shape;263;p33"/>
          <p:cNvSpPr txBox="1"/>
          <p:nvPr/>
        </p:nvSpPr>
        <p:spPr>
          <a:xfrm>
            <a:off x="306374" y="1022350"/>
            <a:ext cx="8754900" cy="5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181126" lvl="0" indent="267970" algn="l" rtl="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300" b="1">
                <a:latin typeface="Proxima Nova"/>
                <a:ea typeface="Proxima Nova"/>
                <a:cs typeface="Proxima Nova"/>
                <a:sym typeface="Proxima Nova"/>
              </a:rPr>
              <a:t>Water jugs problem</a:t>
            </a:r>
            <a:endParaRPr sz="23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marR="181126" lvl="0" indent="267970" algn="l" rtl="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buNone/>
            </a:pPr>
            <a:endParaRPr sz="23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181126" lvl="0" indent="0" algn="l" rtl="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Start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 = (0,0);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Goal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 = (*,2);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Green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 = Newly Added.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181126" lvl="0" indent="0" algn="l" rtl="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Actions: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 Empty-­‐3-­‐Gallon, Empty-­‐4-­‐Gallon, Fill-­‐3-­‐Gallon, Fill-­‐4-­‐ Gallon, Pour-­‐3-­‐into-­‐4, Pour 4-­‐into-­‐3.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181126" lvl="0" indent="0" algn="l" rtl="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413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Proxima Nova"/>
              <a:buAutoNum type="arabicPeriod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OPEN = {&lt;(0,0)&gt;}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41300" algn="l" rtl="0">
              <a:lnSpc>
                <a:spcPct val="115000"/>
              </a:lnSpc>
              <a:spcBef>
                <a:spcPts val="74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OPEN = {</a:t>
            </a: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&lt;(0,0),(3,0)&gt;, &lt;(0,0),(0,4)&gt;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413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OPEN = {&lt;(0,0),(0,4)&gt;, </a:t>
            </a: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&lt;(0,0),(3,0),(0,0)&gt;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1085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&lt;(0,0),(3,0),(3,4)&gt;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100" b="1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&lt;(0,0),(3,0),(0,3) &gt;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AutoNum type="arabicPeriod" startAt="4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OPEN = {&lt;(0,0),(3,0),(0,0)&gt;, &lt;(0,0),(3,0),(3,4)&gt;,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264920" lvl="0" indent="171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&lt;(0,0),(3,0),(0,3)&gt;, </a:t>
            </a: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&lt;(0,0),(0,4),(0,0)&gt;</a:t>
            </a:r>
            <a:r>
              <a:rPr lang="en-US" sz="2100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209675" lvl="0" indent="171450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&lt;(0,0),(0,4),(3,4)&gt;</a:t>
            </a:r>
            <a:r>
              <a:rPr lang="en-US" sz="2100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100" b="1">
                <a:solidFill>
                  <a:srgbClr val="009D00"/>
                </a:solidFill>
                <a:latin typeface="Proxima Nova"/>
                <a:ea typeface="Proxima Nova"/>
                <a:cs typeface="Proxima Nova"/>
                <a:sym typeface="Proxima Nova"/>
              </a:rPr>
              <a:t> &lt;(0,0),(0,4),(3,1</a:t>
            </a:r>
            <a:r>
              <a:rPr lang="en-US" sz="2100" b="1">
                <a:solidFill>
                  <a:srgbClr val="00B05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&gt;}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Breadth-­First Search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228600" y="2591333"/>
            <a:ext cx="8686800" cy="629920"/>
          </a:xfrm>
          <a:custGeom>
            <a:avLst/>
            <a:gdLst/>
            <a:ahLst/>
            <a:cxnLst/>
            <a:rect l="l" t="t" r="r" b="b"/>
            <a:pathLst>
              <a:path w="8686800" h="629919" extrusionOk="0">
                <a:moveTo>
                  <a:pt x="8623858" y="0"/>
                </a:moveTo>
                <a:lnTo>
                  <a:pt x="62945" y="0"/>
                </a:lnTo>
                <a:lnTo>
                  <a:pt x="38443" y="4946"/>
                </a:lnTo>
                <a:lnTo>
                  <a:pt x="18436" y="18435"/>
                </a:lnTo>
                <a:lnTo>
                  <a:pt x="4946" y="38442"/>
                </a:lnTo>
                <a:lnTo>
                  <a:pt x="0" y="62941"/>
                </a:lnTo>
                <a:lnTo>
                  <a:pt x="0" y="566508"/>
                </a:lnTo>
                <a:lnTo>
                  <a:pt x="4946" y="591007"/>
                </a:lnTo>
                <a:lnTo>
                  <a:pt x="18436" y="611014"/>
                </a:lnTo>
                <a:lnTo>
                  <a:pt x="38443" y="624503"/>
                </a:lnTo>
                <a:lnTo>
                  <a:pt x="62945" y="629450"/>
                </a:lnTo>
                <a:lnTo>
                  <a:pt x="8623858" y="629450"/>
                </a:lnTo>
                <a:lnTo>
                  <a:pt x="8648357" y="624503"/>
                </a:lnTo>
                <a:lnTo>
                  <a:pt x="8668364" y="611014"/>
                </a:lnTo>
                <a:lnTo>
                  <a:pt x="8681853" y="591007"/>
                </a:lnTo>
                <a:lnTo>
                  <a:pt x="8686800" y="566508"/>
                </a:lnTo>
                <a:lnTo>
                  <a:pt x="8686800" y="62941"/>
                </a:lnTo>
                <a:lnTo>
                  <a:pt x="8681853" y="38442"/>
                </a:lnTo>
                <a:lnTo>
                  <a:pt x="8668364" y="18435"/>
                </a:lnTo>
                <a:lnTo>
                  <a:pt x="8648357" y="4946"/>
                </a:lnTo>
                <a:lnTo>
                  <a:pt x="8623858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1126801" y="2711754"/>
            <a:ext cx="8166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Level 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228600" y="1856968"/>
            <a:ext cx="8686800" cy="629920"/>
          </a:xfrm>
          <a:custGeom>
            <a:avLst/>
            <a:gdLst/>
            <a:ahLst/>
            <a:cxnLst/>
            <a:rect l="l" t="t" r="r" b="b"/>
            <a:pathLst>
              <a:path w="8686800" h="629919" extrusionOk="0">
                <a:moveTo>
                  <a:pt x="8623858" y="0"/>
                </a:moveTo>
                <a:lnTo>
                  <a:pt x="62945" y="0"/>
                </a:lnTo>
                <a:lnTo>
                  <a:pt x="38443" y="4946"/>
                </a:lnTo>
                <a:lnTo>
                  <a:pt x="18436" y="18437"/>
                </a:lnTo>
                <a:lnTo>
                  <a:pt x="4946" y="38447"/>
                </a:lnTo>
                <a:lnTo>
                  <a:pt x="0" y="62953"/>
                </a:lnTo>
                <a:lnTo>
                  <a:pt x="0" y="566508"/>
                </a:lnTo>
                <a:lnTo>
                  <a:pt x="4946" y="591015"/>
                </a:lnTo>
                <a:lnTo>
                  <a:pt x="18436" y="611025"/>
                </a:lnTo>
                <a:lnTo>
                  <a:pt x="38443" y="624516"/>
                </a:lnTo>
                <a:lnTo>
                  <a:pt x="62945" y="629462"/>
                </a:lnTo>
                <a:lnTo>
                  <a:pt x="8623858" y="629462"/>
                </a:lnTo>
                <a:lnTo>
                  <a:pt x="8648357" y="624516"/>
                </a:lnTo>
                <a:lnTo>
                  <a:pt x="8668364" y="611025"/>
                </a:lnTo>
                <a:lnTo>
                  <a:pt x="8681853" y="591015"/>
                </a:lnTo>
                <a:lnTo>
                  <a:pt x="8686800" y="566508"/>
                </a:lnTo>
                <a:lnTo>
                  <a:pt x="8686800" y="62953"/>
                </a:lnTo>
                <a:lnTo>
                  <a:pt x="8681853" y="38447"/>
                </a:lnTo>
                <a:lnTo>
                  <a:pt x="8668364" y="18437"/>
                </a:lnTo>
                <a:lnTo>
                  <a:pt x="8648357" y="4946"/>
                </a:lnTo>
                <a:lnTo>
                  <a:pt x="8623858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1126801" y="1977390"/>
            <a:ext cx="8166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Level 1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228600" y="1122616"/>
            <a:ext cx="8686800" cy="629920"/>
          </a:xfrm>
          <a:custGeom>
            <a:avLst/>
            <a:gdLst/>
            <a:ahLst/>
            <a:cxnLst/>
            <a:rect l="l" t="t" r="r" b="b"/>
            <a:pathLst>
              <a:path w="8686800" h="629919" extrusionOk="0">
                <a:moveTo>
                  <a:pt x="8623858" y="0"/>
                </a:moveTo>
                <a:lnTo>
                  <a:pt x="62945" y="0"/>
                </a:lnTo>
                <a:lnTo>
                  <a:pt x="38443" y="4946"/>
                </a:lnTo>
                <a:lnTo>
                  <a:pt x="18436" y="18435"/>
                </a:lnTo>
                <a:lnTo>
                  <a:pt x="4946" y="38442"/>
                </a:lnTo>
                <a:lnTo>
                  <a:pt x="0" y="62941"/>
                </a:lnTo>
                <a:lnTo>
                  <a:pt x="0" y="566508"/>
                </a:lnTo>
                <a:lnTo>
                  <a:pt x="4946" y="591007"/>
                </a:lnTo>
                <a:lnTo>
                  <a:pt x="18436" y="611014"/>
                </a:lnTo>
                <a:lnTo>
                  <a:pt x="38443" y="624503"/>
                </a:lnTo>
                <a:lnTo>
                  <a:pt x="62945" y="629450"/>
                </a:lnTo>
                <a:lnTo>
                  <a:pt x="8623858" y="629450"/>
                </a:lnTo>
                <a:lnTo>
                  <a:pt x="8648357" y="624503"/>
                </a:lnTo>
                <a:lnTo>
                  <a:pt x="8668364" y="611014"/>
                </a:lnTo>
                <a:lnTo>
                  <a:pt x="8681853" y="591007"/>
                </a:lnTo>
                <a:lnTo>
                  <a:pt x="8686800" y="566508"/>
                </a:lnTo>
                <a:lnTo>
                  <a:pt x="8686800" y="62941"/>
                </a:lnTo>
                <a:lnTo>
                  <a:pt x="8681853" y="38442"/>
                </a:lnTo>
                <a:lnTo>
                  <a:pt x="8668364" y="18435"/>
                </a:lnTo>
                <a:lnTo>
                  <a:pt x="8648357" y="4946"/>
                </a:lnTo>
                <a:lnTo>
                  <a:pt x="8623858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1126801" y="1243025"/>
            <a:ext cx="8166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Proxima Nova"/>
                <a:ea typeface="Proxima Nova"/>
                <a:cs typeface="Proxima Nova"/>
                <a:sym typeface="Proxima Nova"/>
              </a:rPr>
              <a:t>Level 0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5" name="Google Shape;275;p34"/>
          <p:cNvGrpSpPr/>
          <p:nvPr/>
        </p:nvGrpSpPr>
        <p:grpSpPr>
          <a:xfrm>
            <a:off x="5394743" y="1175067"/>
            <a:ext cx="787401" cy="525145"/>
            <a:chOff x="5394743" y="1175067"/>
            <a:chExt cx="787401" cy="525145"/>
          </a:xfrm>
        </p:grpSpPr>
        <p:sp>
          <p:nvSpPr>
            <p:cNvPr id="276" name="Google Shape;276;p34"/>
            <p:cNvSpPr/>
            <p:nvPr/>
          </p:nvSpPr>
          <p:spPr>
            <a:xfrm>
              <a:off x="5394744" y="117506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50" y="0"/>
                  </a:lnTo>
                  <a:lnTo>
                    <a:pt x="32034" y="4121"/>
                  </a:lnTo>
                  <a:lnTo>
                    <a:pt x="15362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3"/>
                  </a:lnTo>
                  <a:lnTo>
                    <a:pt x="15362" y="509179"/>
                  </a:lnTo>
                  <a:lnTo>
                    <a:pt x="32034" y="520424"/>
                  </a:lnTo>
                  <a:lnTo>
                    <a:pt x="52450" y="524548"/>
                  </a:lnTo>
                  <a:lnTo>
                    <a:pt x="734364" y="524548"/>
                  </a:lnTo>
                  <a:lnTo>
                    <a:pt x="754781" y="520424"/>
                  </a:lnTo>
                  <a:lnTo>
                    <a:pt x="771453" y="509179"/>
                  </a:lnTo>
                  <a:lnTo>
                    <a:pt x="782694" y="492503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5394743" y="117506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2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2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78" name="Google Shape;278;p34"/>
          <p:cNvSpPr txBox="1"/>
          <p:nvPr/>
        </p:nvSpPr>
        <p:spPr>
          <a:xfrm>
            <a:off x="5457801" y="1300810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#1: (0,0)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9" name="Google Shape;279;p34"/>
          <p:cNvGrpSpPr/>
          <p:nvPr/>
        </p:nvGrpSpPr>
        <p:grpSpPr>
          <a:xfrm>
            <a:off x="3860444" y="1699615"/>
            <a:ext cx="1928203" cy="734962"/>
            <a:chOff x="3860444" y="1699615"/>
            <a:chExt cx="1928203" cy="734962"/>
          </a:xfrm>
        </p:grpSpPr>
        <p:sp>
          <p:nvSpPr>
            <p:cNvPr id="280" name="Google Shape;280;p34"/>
            <p:cNvSpPr/>
            <p:nvPr/>
          </p:nvSpPr>
          <p:spPr>
            <a:xfrm>
              <a:off x="4253852" y="1699615"/>
              <a:ext cx="1534795" cy="210185"/>
            </a:xfrm>
            <a:custGeom>
              <a:avLst/>
              <a:gdLst/>
              <a:ahLst/>
              <a:cxnLst/>
              <a:rect l="l" t="t" r="r" b="b"/>
              <a:pathLst>
                <a:path w="1534795" h="210185" extrusionOk="0">
                  <a:moveTo>
                    <a:pt x="1534288" y="0"/>
                  </a:moveTo>
                  <a:lnTo>
                    <a:pt x="1534288" y="104907"/>
                  </a:lnTo>
                  <a:lnTo>
                    <a:pt x="0" y="104907"/>
                  </a:lnTo>
                  <a:lnTo>
                    <a:pt x="0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3860444" y="1909432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63" y="0"/>
                  </a:lnTo>
                  <a:lnTo>
                    <a:pt x="32045" y="4121"/>
                  </a:lnTo>
                  <a:lnTo>
                    <a:pt x="15368" y="15362"/>
                  </a:lnTo>
                  <a:lnTo>
                    <a:pt x="4123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3" y="492501"/>
                  </a:lnTo>
                  <a:lnTo>
                    <a:pt x="15368" y="509173"/>
                  </a:lnTo>
                  <a:lnTo>
                    <a:pt x="32045" y="520413"/>
                  </a:lnTo>
                  <a:lnTo>
                    <a:pt x="52463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3860444" y="1909432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80" y="4122"/>
                  </a:lnTo>
                  <a:lnTo>
                    <a:pt x="771453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7"/>
                  </a:lnTo>
                  <a:lnTo>
                    <a:pt x="771453" y="509180"/>
                  </a:lnTo>
                  <a:lnTo>
                    <a:pt x="754780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7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83" name="Google Shape;283;p34"/>
          <p:cNvSpPr txBox="1"/>
          <p:nvPr/>
        </p:nvSpPr>
        <p:spPr>
          <a:xfrm>
            <a:off x="3923514" y="2035175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#2: (3,0)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84" name="Google Shape;284;p34"/>
          <p:cNvGrpSpPr/>
          <p:nvPr/>
        </p:nvGrpSpPr>
        <p:grpSpPr>
          <a:xfrm>
            <a:off x="2837586" y="2433967"/>
            <a:ext cx="1416393" cy="734975"/>
            <a:chOff x="2837586" y="2433967"/>
            <a:chExt cx="1416393" cy="734975"/>
          </a:xfrm>
        </p:grpSpPr>
        <p:sp>
          <p:nvSpPr>
            <p:cNvPr id="285" name="Google Shape;285;p34"/>
            <p:cNvSpPr/>
            <p:nvPr/>
          </p:nvSpPr>
          <p:spPr>
            <a:xfrm>
              <a:off x="3230994" y="2433967"/>
              <a:ext cx="1022985" cy="210185"/>
            </a:xfrm>
            <a:custGeom>
              <a:avLst/>
              <a:gdLst/>
              <a:ahLst/>
              <a:cxnLst/>
              <a:rect l="l" t="t" r="r" b="b"/>
              <a:pathLst>
                <a:path w="1022985" h="210185" extrusionOk="0">
                  <a:moveTo>
                    <a:pt x="1022859" y="0"/>
                  </a:moveTo>
                  <a:lnTo>
                    <a:pt x="1022859" y="104907"/>
                  </a:lnTo>
                  <a:lnTo>
                    <a:pt x="0" y="104907"/>
                  </a:lnTo>
                  <a:lnTo>
                    <a:pt x="0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2837586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51" y="0"/>
                  </a:lnTo>
                  <a:lnTo>
                    <a:pt x="32034" y="4121"/>
                  </a:lnTo>
                  <a:lnTo>
                    <a:pt x="15362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2" y="509173"/>
                  </a:lnTo>
                  <a:lnTo>
                    <a:pt x="32034" y="520413"/>
                  </a:lnTo>
                  <a:lnTo>
                    <a:pt x="52451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837586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3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2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2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3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88" name="Google Shape;288;p34"/>
          <p:cNvSpPr txBox="1"/>
          <p:nvPr/>
        </p:nvSpPr>
        <p:spPr>
          <a:xfrm>
            <a:off x="2900656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#4: (0,0)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89" name="Google Shape;289;p34"/>
          <p:cNvGrpSpPr/>
          <p:nvPr/>
        </p:nvGrpSpPr>
        <p:grpSpPr>
          <a:xfrm>
            <a:off x="3860444" y="2433967"/>
            <a:ext cx="787400" cy="734975"/>
            <a:chOff x="3860444" y="2433967"/>
            <a:chExt cx="787400" cy="734975"/>
          </a:xfrm>
        </p:grpSpPr>
        <p:sp>
          <p:nvSpPr>
            <p:cNvPr id="290" name="Google Shape;290;p34"/>
            <p:cNvSpPr/>
            <p:nvPr/>
          </p:nvSpPr>
          <p:spPr>
            <a:xfrm>
              <a:off x="4253852" y="2433967"/>
              <a:ext cx="0" cy="210185"/>
            </a:xfrm>
            <a:custGeom>
              <a:avLst/>
              <a:gdLst/>
              <a:ahLst/>
              <a:cxnLst/>
              <a:rect l="l" t="t" r="r" b="b"/>
              <a:pathLst>
                <a:path w="120000" h="210185" extrusionOk="0">
                  <a:moveTo>
                    <a:pt x="0" y="0"/>
                  </a:moveTo>
                  <a:lnTo>
                    <a:pt x="0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3860444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63" y="0"/>
                  </a:lnTo>
                  <a:lnTo>
                    <a:pt x="32045" y="4121"/>
                  </a:lnTo>
                  <a:lnTo>
                    <a:pt x="15368" y="15362"/>
                  </a:lnTo>
                  <a:lnTo>
                    <a:pt x="4123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3" y="492501"/>
                  </a:lnTo>
                  <a:lnTo>
                    <a:pt x="15368" y="509173"/>
                  </a:lnTo>
                  <a:lnTo>
                    <a:pt x="32045" y="520413"/>
                  </a:lnTo>
                  <a:lnTo>
                    <a:pt x="52463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3860444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80" y="4122"/>
                  </a:lnTo>
                  <a:lnTo>
                    <a:pt x="771453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3" y="509180"/>
                  </a:lnTo>
                  <a:lnTo>
                    <a:pt x="754780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93" name="Google Shape;293;p34"/>
          <p:cNvSpPr txBox="1"/>
          <p:nvPr/>
        </p:nvSpPr>
        <p:spPr>
          <a:xfrm>
            <a:off x="3923514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#5: (3,4)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94" name="Google Shape;294;p34"/>
          <p:cNvGrpSpPr/>
          <p:nvPr/>
        </p:nvGrpSpPr>
        <p:grpSpPr>
          <a:xfrm>
            <a:off x="4253852" y="2433967"/>
            <a:ext cx="1416863" cy="734975"/>
            <a:chOff x="4253852" y="2433967"/>
            <a:chExt cx="1416863" cy="734975"/>
          </a:xfrm>
        </p:grpSpPr>
        <p:sp>
          <p:nvSpPr>
            <p:cNvPr id="295" name="Google Shape;295;p34"/>
            <p:cNvSpPr/>
            <p:nvPr/>
          </p:nvSpPr>
          <p:spPr>
            <a:xfrm>
              <a:off x="4253852" y="2433967"/>
              <a:ext cx="1022985" cy="210185"/>
            </a:xfrm>
            <a:custGeom>
              <a:avLst/>
              <a:gdLst/>
              <a:ahLst/>
              <a:cxnLst/>
              <a:rect l="l" t="t" r="r" b="b"/>
              <a:pathLst>
                <a:path w="1022985" h="210185" extrusionOk="0">
                  <a:moveTo>
                    <a:pt x="0" y="0"/>
                  </a:moveTo>
                  <a:lnTo>
                    <a:pt x="0" y="104907"/>
                  </a:lnTo>
                  <a:lnTo>
                    <a:pt x="1022859" y="104907"/>
                  </a:lnTo>
                  <a:lnTo>
                    <a:pt x="1022859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4883315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50" y="0"/>
                  </a:lnTo>
                  <a:lnTo>
                    <a:pt x="32034" y="4121"/>
                  </a:lnTo>
                  <a:lnTo>
                    <a:pt x="15362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2" y="509173"/>
                  </a:lnTo>
                  <a:lnTo>
                    <a:pt x="32034" y="520413"/>
                  </a:lnTo>
                  <a:lnTo>
                    <a:pt x="52450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4883314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2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2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98" name="Google Shape;298;p34"/>
          <p:cNvSpPr txBox="1"/>
          <p:nvPr/>
        </p:nvSpPr>
        <p:spPr>
          <a:xfrm>
            <a:off x="4946372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#6: (0,3)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99" name="Google Shape;299;p34"/>
          <p:cNvGrpSpPr/>
          <p:nvPr/>
        </p:nvGrpSpPr>
        <p:grpSpPr>
          <a:xfrm>
            <a:off x="5788152" y="1699615"/>
            <a:ext cx="1928279" cy="734962"/>
            <a:chOff x="5788152" y="1699615"/>
            <a:chExt cx="1928279" cy="734962"/>
          </a:xfrm>
        </p:grpSpPr>
        <p:sp>
          <p:nvSpPr>
            <p:cNvPr id="300" name="Google Shape;300;p34"/>
            <p:cNvSpPr/>
            <p:nvPr/>
          </p:nvSpPr>
          <p:spPr>
            <a:xfrm>
              <a:off x="5788152" y="1699615"/>
              <a:ext cx="1534795" cy="210185"/>
            </a:xfrm>
            <a:custGeom>
              <a:avLst/>
              <a:gdLst/>
              <a:ahLst/>
              <a:cxnLst/>
              <a:rect l="l" t="t" r="r" b="b"/>
              <a:pathLst>
                <a:path w="1534795" h="210185" extrusionOk="0">
                  <a:moveTo>
                    <a:pt x="0" y="0"/>
                  </a:moveTo>
                  <a:lnTo>
                    <a:pt x="0" y="104907"/>
                  </a:lnTo>
                  <a:lnTo>
                    <a:pt x="1534288" y="104907"/>
                  </a:lnTo>
                  <a:lnTo>
                    <a:pt x="1534288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6929031" y="1909432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63" y="0"/>
                  </a:lnTo>
                  <a:lnTo>
                    <a:pt x="32039" y="4121"/>
                  </a:lnTo>
                  <a:lnTo>
                    <a:pt x="15363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3" y="509173"/>
                  </a:lnTo>
                  <a:lnTo>
                    <a:pt x="32039" y="520413"/>
                  </a:lnTo>
                  <a:lnTo>
                    <a:pt x="52463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6929030" y="1909432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3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7"/>
                  </a:lnTo>
                  <a:lnTo>
                    <a:pt x="771453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7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03" name="Google Shape;303;p34"/>
          <p:cNvSpPr txBox="1"/>
          <p:nvPr/>
        </p:nvSpPr>
        <p:spPr>
          <a:xfrm>
            <a:off x="6992101" y="2035175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#3: (0,4)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04" name="Google Shape;304;p34"/>
          <p:cNvGrpSpPr/>
          <p:nvPr/>
        </p:nvGrpSpPr>
        <p:grpSpPr>
          <a:xfrm>
            <a:off x="5906173" y="2433967"/>
            <a:ext cx="1416393" cy="734975"/>
            <a:chOff x="5906173" y="2433967"/>
            <a:chExt cx="1416393" cy="734975"/>
          </a:xfrm>
        </p:grpSpPr>
        <p:sp>
          <p:nvSpPr>
            <p:cNvPr id="305" name="Google Shape;305;p34"/>
            <p:cNvSpPr/>
            <p:nvPr/>
          </p:nvSpPr>
          <p:spPr>
            <a:xfrm>
              <a:off x="6299581" y="2433967"/>
              <a:ext cx="1022985" cy="210185"/>
            </a:xfrm>
            <a:custGeom>
              <a:avLst/>
              <a:gdLst/>
              <a:ahLst/>
              <a:cxnLst/>
              <a:rect l="l" t="t" r="r" b="b"/>
              <a:pathLst>
                <a:path w="1022984" h="210185" extrusionOk="0">
                  <a:moveTo>
                    <a:pt x="1022859" y="0"/>
                  </a:moveTo>
                  <a:lnTo>
                    <a:pt x="1022859" y="104907"/>
                  </a:lnTo>
                  <a:lnTo>
                    <a:pt x="0" y="104907"/>
                  </a:lnTo>
                  <a:lnTo>
                    <a:pt x="0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5906173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50" y="0"/>
                  </a:lnTo>
                  <a:lnTo>
                    <a:pt x="32034" y="4121"/>
                  </a:lnTo>
                  <a:lnTo>
                    <a:pt x="15362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2" y="509173"/>
                  </a:lnTo>
                  <a:lnTo>
                    <a:pt x="32034" y="520413"/>
                  </a:lnTo>
                  <a:lnTo>
                    <a:pt x="52450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5906173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2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2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08" name="Google Shape;308;p34"/>
          <p:cNvSpPr txBox="1"/>
          <p:nvPr/>
        </p:nvSpPr>
        <p:spPr>
          <a:xfrm>
            <a:off x="5969243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#7: (0,0)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09" name="Google Shape;309;p34"/>
          <p:cNvGrpSpPr/>
          <p:nvPr/>
        </p:nvGrpSpPr>
        <p:grpSpPr>
          <a:xfrm>
            <a:off x="6929030" y="2433967"/>
            <a:ext cx="787400" cy="734975"/>
            <a:chOff x="6929030" y="2433967"/>
            <a:chExt cx="787400" cy="734975"/>
          </a:xfrm>
        </p:grpSpPr>
        <p:sp>
          <p:nvSpPr>
            <p:cNvPr id="310" name="Google Shape;310;p34"/>
            <p:cNvSpPr/>
            <p:nvPr/>
          </p:nvSpPr>
          <p:spPr>
            <a:xfrm>
              <a:off x="7322438" y="2433967"/>
              <a:ext cx="0" cy="210185"/>
            </a:xfrm>
            <a:custGeom>
              <a:avLst/>
              <a:gdLst/>
              <a:ahLst/>
              <a:cxnLst/>
              <a:rect l="l" t="t" r="r" b="b"/>
              <a:pathLst>
                <a:path w="120000" h="210185" extrusionOk="0">
                  <a:moveTo>
                    <a:pt x="0" y="0"/>
                  </a:moveTo>
                  <a:lnTo>
                    <a:pt x="0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6929030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64" y="0"/>
                  </a:moveTo>
                  <a:lnTo>
                    <a:pt x="52463" y="0"/>
                  </a:lnTo>
                  <a:lnTo>
                    <a:pt x="32039" y="4121"/>
                  </a:lnTo>
                  <a:lnTo>
                    <a:pt x="15363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3" y="509173"/>
                  </a:lnTo>
                  <a:lnTo>
                    <a:pt x="32039" y="520413"/>
                  </a:lnTo>
                  <a:lnTo>
                    <a:pt x="52463" y="524535"/>
                  </a:lnTo>
                  <a:lnTo>
                    <a:pt x="734364" y="524535"/>
                  </a:lnTo>
                  <a:lnTo>
                    <a:pt x="754781" y="520413"/>
                  </a:lnTo>
                  <a:lnTo>
                    <a:pt x="771453" y="509173"/>
                  </a:lnTo>
                  <a:lnTo>
                    <a:pt x="782694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4" y="32034"/>
                  </a:lnTo>
                  <a:lnTo>
                    <a:pt x="771453" y="15362"/>
                  </a:lnTo>
                  <a:lnTo>
                    <a:pt x="754781" y="4121"/>
                  </a:lnTo>
                  <a:lnTo>
                    <a:pt x="73436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6929030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79" y="4122"/>
                  </a:lnTo>
                  <a:lnTo>
                    <a:pt x="771453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3" y="509180"/>
                  </a:lnTo>
                  <a:lnTo>
                    <a:pt x="754779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13" name="Google Shape;313;p34"/>
          <p:cNvSpPr txBox="1"/>
          <p:nvPr/>
        </p:nvSpPr>
        <p:spPr>
          <a:xfrm>
            <a:off x="6992101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#8: (3,4)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4" name="Google Shape;314;p34"/>
          <p:cNvGrpSpPr/>
          <p:nvPr/>
        </p:nvGrpSpPr>
        <p:grpSpPr>
          <a:xfrm>
            <a:off x="7322438" y="2433967"/>
            <a:ext cx="1416863" cy="734975"/>
            <a:chOff x="7322438" y="2433967"/>
            <a:chExt cx="1416863" cy="734975"/>
          </a:xfrm>
        </p:grpSpPr>
        <p:sp>
          <p:nvSpPr>
            <p:cNvPr id="315" name="Google Shape;315;p34"/>
            <p:cNvSpPr/>
            <p:nvPr/>
          </p:nvSpPr>
          <p:spPr>
            <a:xfrm>
              <a:off x="7322438" y="2433967"/>
              <a:ext cx="1022985" cy="210185"/>
            </a:xfrm>
            <a:custGeom>
              <a:avLst/>
              <a:gdLst/>
              <a:ahLst/>
              <a:cxnLst/>
              <a:rect l="l" t="t" r="r" b="b"/>
              <a:pathLst>
                <a:path w="1022984" h="210185" extrusionOk="0">
                  <a:moveTo>
                    <a:pt x="0" y="0"/>
                  </a:moveTo>
                  <a:lnTo>
                    <a:pt x="0" y="104907"/>
                  </a:lnTo>
                  <a:lnTo>
                    <a:pt x="1022859" y="104907"/>
                  </a:lnTo>
                  <a:lnTo>
                    <a:pt x="1022859" y="209816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7951901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734352" y="0"/>
                  </a:moveTo>
                  <a:lnTo>
                    <a:pt x="52450" y="0"/>
                  </a:lnTo>
                  <a:lnTo>
                    <a:pt x="32034" y="4121"/>
                  </a:lnTo>
                  <a:lnTo>
                    <a:pt x="15362" y="15362"/>
                  </a:lnTo>
                  <a:lnTo>
                    <a:pt x="4121" y="32034"/>
                  </a:lnTo>
                  <a:lnTo>
                    <a:pt x="0" y="52450"/>
                  </a:lnTo>
                  <a:lnTo>
                    <a:pt x="0" y="472084"/>
                  </a:lnTo>
                  <a:lnTo>
                    <a:pt x="4121" y="492501"/>
                  </a:lnTo>
                  <a:lnTo>
                    <a:pt x="15362" y="509173"/>
                  </a:lnTo>
                  <a:lnTo>
                    <a:pt x="32034" y="520413"/>
                  </a:lnTo>
                  <a:lnTo>
                    <a:pt x="52450" y="524535"/>
                  </a:lnTo>
                  <a:lnTo>
                    <a:pt x="734352" y="524535"/>
                  </a:lnTo>
                  <a:lnTo>
                    <a:pt x="754776" y="520413"/>
                  </a:lnTo>
                  <a:lnTo>
                    <a:pt x="771451" y="509173"/>
                  </a:lnTo>
                  <a:lnTo>
                    <a:pt x="782693" y="492501"/>
                  </a:lnTo>
                  <a:lnTo>
                    <a:pt x="786815" y="472084"/>
                  </a:lnTo>
                  <a:lnTo>
                    <a:pt x="786815" y="52450"/>
                  </a:lnTo>
                  <a:lnTo>
                    <a:pt x="782693" y="32034"/>
                  </a:lnTo>
                  <a:lnTo>
                    <a:pt x="771451" y="15362"/>
                  </a:lnTo>
                  <a:lnTo>
                    <a:pt x="754776" y="4121"/>
                  </a:lnTo>
                  <a:lnTo>
                    <a:pt x="734352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7951901" y="2643797"/>
              <a:ext cx="787400" cy="525145"/>
            </a:xfrm>
            <a:custGeom>
              <a:avLst/>
              <a:gdLst/>
              <a:ahLst/>
              <a:cxnLst/>
              <a:rect l="l" t="t" r="r" b="b"/>
              <a:pathLst>
                <a:path w="787400" h="525144" extrusionOk="0">
                  <a:moveTo>
                    <a:pt x="0" y="52454"/>
                  </a:moveTo>
                  <a:lnTo>
                    <a:pt x="4122" y="32036"/>
                  </a:lnTo>
                  <a:lnTo>
                    <a:pt x="15363" y="15363"/>
                  </a:lnTo>
                  <a:lnTo>
                    <a:pt x="32036" y="4122"/>
                  </a:lnTo>
                  <a:lnTo>
                    <a:pt x="52454" y="0"/>
                  </a:lnTo>
                  <a:lnTo>
                    <a:pt x="734362" y="0"/>
                  </a:lnTo>
                  <a:lnTo>
                    <a:pt x="754780" y="4122"/>
                  </a:lnTo>
                  <a:lnTo>
                    <a:pt x="771453" y="15363"/>
                  </a:lnTo>
                  <a:lnTo>
                    <a:pt x="782694" y="32036"/>
                  </a:lnTo>
                  <a:lnTo>
                    <a:pt x="786816" y="52454"/>
                  </a:lnTo>
                  <a:lnTo>
                    <a:pt x="786816" y="472089"/>
                  </a:lnTo>
                  <a:lnTo>
                    <a:pt x="782694" y="492506"/>
                  </a:lnTo>
                  <a:lnTo>
                    <a:pt x="771453" y="509180"/>
                  </a:lnTo>
                  <a:lnTo>
                    <a:pt x="754780" y="520421"/>
                  </a:lnTo>
                  <a:lnTo>
                    <a:pt x="734362" y="524543"/>
                  </a:lnTo>
                  <a:lnTo>
                    <a:pt x="52454" y="524543"/>
                  </a:lnTo>
                  <a:lnTo>
                    <a:pt x="32036" y="520421"/>
                  </a:lnTo>
                  <a:lnTo>
                    <a:pt x="15363" y="509180"/>
                  </a:lnTo>
                  <a:lnTo>
                    <a:pt x="4122" y="492506"/>
                  </a:lnTo>
                  <a:lnTo>
                    <a:pt x="0" y="472089"/>
                  </a:lnTo>
                  <a:lnTo>
                    <a:pt x="0" y="5245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18" name="Google Shape;318;p34"/>
          <p:cNvSpPr txBox="1"/>
          <p:nvPr/>
        </p:nvSpPr>
        <p:spPr>
          <a:xfrm>
            <a:off x="8014958" y="2769539"/>
            <a:ext cx="6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#9: (3,1)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9" name="Google Shape;319;p3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20" name="Google Shape;320;p3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21" name="Google Shape;321;p34"/>
          <p:cNvSpPr txBox="1"/>
          <p:nvPr/>
        </p:nvSpPr>
        <p:spPr>
          <a:xfrm>
            <a:off x="228600" y="5208300"/>
            <a:ext cx="8686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208915" marR="5080" lvl="0" indent="-1708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Char char="▪"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path represented by each node is the path from the root to that node.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08915" lvl="0" indent="-1708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Char char="▪"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Breadth-­First explores the search space level by level.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08915" lvl="0" indent="-1708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Char char="▪"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Assumption: Uniform cost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2" name="Google Shape;322;p34" title="Screenshot 2026-01-24 at 12.00.07 AM.png"/>
          <p:cNvPicPr preferRelativeResize="0"/>
          <p:nvPr/>
        </p:nvPicPr>
        <p:blipFill rotWithShape="1">
          <a:blip r:embed="rId3">
            <a:alphaModFix/>
          </a:blip>
          <a:srcRect l="2065" t="13783" r="1882" b="6171"/>
          <a:stretch/>
        </p:blipFill>
        <p:spPr>
          <a:xfrm>
            <a:off x="180300" y="3589412"/>
            <a:ext cx="8783400" cy="13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Breadth-­First Properties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3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29" name="Google Shape;329;p3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224249" y="1034975"/>
            <a:ext cx="8695500" cy="49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Completeness?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0" indent="-26035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The length of the path removed from OPEN is non-­decreasing.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We replace each expanded node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n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with an extension of </a:t>
            </a: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 b="1">
                <a:latin typeface="Proxima Nova"/>
                <a:ea typeface="Proxima Nova"/>
                <a:cs typeface="Proxima Nova"/>
                <a:sym typeface="Proxima Nova"/>
              </a:rPr>
              <a:t>All </a:t>
            </a: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shorter paths are expanded prior before any longer path.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Hence, eventually we must examine all paths of length d, and thus find a solution if one exists.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None/>
            </a:pP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Optimality?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0" indent="-260350" algn="l" rtl="0">
              <a:lnSpc>
                <a:spcPct val="115000"/>
              </a:lnSpc>
              <a:spcBef>
                <a:spcPts val="284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Will find shortest length solution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0" indent="-260350" algn="l" rtl="0">
              <a:lnSpc>
                <a:spcPct val="115000"/>
              </a:lnSpc>
              <a:spcBef>
                <a:spcPts val="284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Least cost solution?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800100" marR="30187" lvl="1" indent="-222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Not necessarily: shortest solution not always cheapest solution if actions have varying costs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>
            <a:off x="152400" y="595312"/>
            <a:ext cx="8915400" cy="548005"/>
          </a:xfrm>
          <a:custGeom>
            <a:avLst/>
            <a:gdLst/>
            <a:ahLst/>
            <a:cxnLst/>
            <a:rect l="l" t="t" r="r" b="b"/>
            <a:pathLst>
              <a:path w="8915400" h="548005" extrusionOk="0">
                <a:moveTo>
                  <a:pt x="1143000" y="0"/>
                </a:moveTo>
                <a:lnTo>
                  <a:pt x="0" y="0"/>
                </a:ln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close/>
              </a:path>
              <a:path w="8915400" h="548005" extrusionOk="0">
                <a:moveTo>
                  <a:pt x="8915400" y="90487"/>
                </a:moveTo>
                <a:lnTo>
                  <a:pt x="8305800" y="90487"/>
                </a:lnTo>
                <a:lnTo>
                  <a:pt x="8305800" y="547687"/>
                </a:lnTo>
                <a:lnTo>
                  <a:pt x="8915400" y="547687"/>
                </a:lnTo>
                <a:lnTo>
                  <a:pt x="8915400" y="904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6"/>
          <p:cNvSpPr txBox="1"/>
          <p:nvPr/>
        </p:nvSpPr>
        <p:spPr>
          <a:xfrm>
            <a:off x="459676" y="4253475"/>
            <a:ext cx="8457300" cy="18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64135" marR="60623" lvl="0" indent="-52068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Breadth first Solution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Arad → Sibiu → Fagaras →Bucharest </a:t>
            </a:r>
            <a:endParaRPr sz="1800" b="1">
              <a:solidFill>
                <a:srgbClr val="0033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4135" marR="60623" lvl="0" indent="-52069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Cost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140  +  99  +  211  =  450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None/>
            </a:pP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Lowest cost Solution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Arad 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Sibiu 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Rimnicu Vilcea 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Pitesti </a:t>
            </a:r>
            <a:r>
              <a:rPr lang="en-US" sz="18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 Bucharest </a:t>
            </a:r>
            <a:r>
              <a:rPr lang="en-US" sz="2000" b="1">
                <a:solidFill>
                  <a:srgbClr val="00AE00"/>
                </a:solidFill>
                <a:latin typeface="Proxima Nova"/>
                <a:ea typeface="Proxima Nova"/>
                <a:cs typeface="Proxima Nova"/>
                <a:sym typeface="Proxima Nova"/>
              </a:rPr>
              <a:t>Cost</a:t>
            </a:r>
            <a:r>
              <a:rPr lang="en-US" sz="2000" b="1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: 140  +  80  +  97  +  101  =  </a:t>
            </a:r>
            <a:r>
              <a:rPr lang="en-US" sz="2000" b="1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418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7" name="Google Shape;337;p3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Breadth-­First Properties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4" name="Google Shape;344;p3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45" name="Google Shape;345;p3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46" name="Google Shape;346;p37"/>
          <p:cNvSpPr txBox="1"/>
          <p:nvPr/>
        </p:nvSpPr>
        <p:spPr>
          <a:xfrm>
            <a:off x="280974" y="1020825"/>
            <a:ext cx="87207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Measuring time and space complexity.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265" marR="30480" lvl="0" indent="-1651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b = maximum number of successors of any node (maximal branching factor).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900" lvl="0" indent="-165100" algn="l" rtl="0">
              <a:lnSpc>
                <a:spcPct val="115000"/>
              </a:lnSpc>
              <a:spcBef>
                <a:spcPts val="605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d = depth of the shortest solution.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77264" lvl="1" indent="-1651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Root at depth 0 is a path of length 1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77264" lvl="1" indent="-1651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d = length of path -­ 1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1" indent="-19685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 b="1">
                <a:latin typeface="Proxima Nova"/>
                <a:ea typeface="Proxima Nova"/>
                <a:cs typeface="Proxima Nova"/>
                <a:sym typeface="Proxima Nova"/>
              </a:rPr>
              <a:t>Time Complexity?</a:t>
            </a: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265" lvl="0" indent="0" algn="l" rtl="0">
              <a:lnSpc>
                <a:spcPct val="115000"/>
              </a:lnSpc>
              <a:spcBef>
                <a:spcPts val="1415"/>
              </a:spcBef>
              <a:spcAft>
                <a:spcPts val="0"/>
              </a:spcAft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1 + b + b</a:t>
            </a:r>
            <a:r>
              <a:rPr lang="en-US" sz="2175" baseline="30000">
                <a:latin typeface="Proxima Nova"/>
                <a:ea typeface="Proxima Nova"/>
                <a:cs typeface="Proxima Nova"/>
                <a:sym typeface="Proxima Nova"/>
              </a:rPr>
              <a:t>2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+ b</a:t>
            </a:r>
            <a:r>
              <a:rPr lang="en-US" sz="2175" baseline="30000">
                <a:latin typeface="Proxima Nova"/>
                <a:ea typeface="Proxima Nova"/>
                <a:cs typeface="Proxima Nova"/>
                <a:sym typeface="Proxima Nova"/>
              </a:rPr>
              <a:t>3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+ … + b</a:t>
            </a:r>
            <a:r>
              <a:rPr lang="en-US" sz="2175" baseline="30000">
                <a:latin typeface="Proxima Nova"/>
                <a:ea typeface="Proxima Nova"/>
                <a:cs typeface="Proxima Nova"/>
                <a:sym typeface="Proxima Nova"/>
              </a:rPr>
              <a:t>d-­1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+ b</a:t>
            </a:r>
            <a:r>
              <a:rPr lang="en-US" sz="2175" baseline="30000">
                <a:latin typeface="Proxima Nova"/>
                <a:ea typeface="Proxima Nova"/>
                <a:cs typeface="Proxima Nova"/>
                <a:sym typeface="Proxima Nova"/>
              </a:rPr>
              <a:t>d 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= O(b</a:t>
            </a:r>
            <a:r>
              <a:rPr lang="en-US" sz="2175" baseline="30000"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26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120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●"/>
            </a:pPr>
            <a:r>
              <a:rPr lang="en-US" sz="2200" b="1">
                <a:latin typeface="Proxima Nova"/>
                <a:ea typeface="Proxima Nova"/>
                <a:cs typeface="Proxima Nova"/>
                <a:sym typeface="Proxima Nova"/>
              </a:rPr>
              <a:t>Space Complexity?</a:t>
            </a: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265" lvl="0" indent="-37465" algn="l" rtl="0">
              <a:lnSpc>
                <a:spcPct val="115000"/>
              </a:lnSpc>
              <a:spcBef>
                <a:spcPts val="1415"/>
              </a:spcBef>
              <a:spcAft>
                <a:spcPts val="0"/>
              </a:spcAft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	O(b</a:t>
            </a:r>
            <a:r>
              <a:rPr lang="en-US" sz="2200" baseline="30000">
                <a:latin typeface="Proxima Nova"/>
                <a:ea typeface="Proxima Nova"/>
                <a:cs typeface="Proxima Nova"/>
                <a:sym typeface="Proxima Nova"/>
              </a:rPr>
              <a:t>d–1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): nodes in the explored set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723265" lvl="0" indent="-37465" algn="l" rtl="0">
              <a:lnSpc>
                <a:spcPct val="115000"/>
              </a:lnSpc>
              <a:spcBef>
                <a:spcPts val="1415"/>
              </a:spcBef>
              <a:spcAft>
                <a:spcPts val="0"/>
              </a:spcAft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O(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sz="22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): nodes in the frontier set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5101325" y="4942425"/>
            <a:ext cx="248100" cy="1225200"/>
          </a:xfrm>
          <a:prstGeom prst="rightBracket">
            <a:avLst>
              <a:gd name="adj" fmla="val 83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7"/>
          <p:cNvSpPr txBox="1"/>
          <p:nvPr/>
        </p:nvSpPr>
        <p:spPr>
          <a:xfrm>
            <a:off x="5527975" y="5242500"/>
            <a:ext cx="2267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O(b</a:t>
            </a:r>
            <a:r>
              <a:rPr lang="en-US" sz="22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 txBox="1">
            <a:spLocks noGrp="1"/>
          </p:cNvSpPr>
          <p:nvPr>
            <p:ph type="title"/>
          </p:nvPr>
        </p:nvSpPr>
        <p:spPr>
          <a:xfrm>
            <a:off x="1646250" y="3053100"/>
            <a:ext cx="5851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Proxima Nova"/>
                <a:ea typeface="Proxima Nova"/>
                <a:cs typeface="Proxima Nova"/>
                <a:sym typeface="Proxima Nova"/>
              </a:rPr>
              <a:t>Uniform-­Cost Search</a:t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4" name="Google Shape;354;p4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Uniform-­Cost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1" name="Google Shape;361;p4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62" name="Google Shape;362;p4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63" name="Google Shape;363;p41"/>
          <p:cNvSpPr txBox="1"/>
          <p:nvPr/>
        </p:nvSpPr>
        <p:spPr>
          <a:xfrm>
            <a:off x="266698" y="1035550"/>
            <a:ext cx="8610600" cy="16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27940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Keep OPEN ordered by increasing cost of the path.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lvl="0" indent="-241300" algn="l" rtl="0">
              <a:lnSpc>
                <a:spcPct val="115000"/>
              </a:lnSpc>
              <a:spcBef>
                <a:spcPts val="49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Always expand the least cost path.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lvl="0" indent="-241300" algn="l" rtl="0">
              <a:lnSpc>
                <a:spcPct val="115000"/>
              </a:lnSpc>
              <a:spcBef>
                <a:spcPts val="495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frontier is maintained as a priority queue ordered by </a:t>
            </a:r>
            <a:r>
              <a:rPr lang="en-US" sz="2000" i="1">
                <a:solidFill>
                  <a:schemeClr val="dk1"/>
                </a:solidFill>
              </a:rPr>
              <a:t>l</a:t>
            </a:r>
            <a:r>
              <a:rPr lang="en-US" sz="2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owest path cost g(n).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lvl="0" indent="-24130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Identical to Breadth-first if each action has the same cost.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b71fc23f3_0_1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Uniform-­Cost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9" name="Google Shape;369;g3bb71fc23f3_0_1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70" name="Google Shape;370;g3bb71fc23f3_0_1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pic>
        <p:nvPicPr>
          <p:cNvPr id="371" name="Google Shape;371;g3bb71fc23f3_0_11" title="Screenshot 2026-01-24 at 12.30.09 AM.png"/>
          <p:cNvPicPr preferRelativeResize="0"/>
          <p:nvPr/>
        </p:nvPicPr>
        <p:blipFill rotWithShape="1">
          <a:blip r:embed="rId3">
            <a:alphaModFix/>
          </a:blip>
          <a:srcRect r="10378"/>
          <a:stretch/>
        </p:blipFill>
        <p:spPr>
          <a:xfrm>
            <a:off x="281088" y="883650"/>
            <a:ext cx="5505150" cy="31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bb71fc23f3_0_11" title="Screenshot 2026-01-24 at 12.31.20 AM.png"/>
          <p:cNvPicPr preferRelativeResize="0"/>
          <p:nvPr/>
        </p:nvPicPr>
        <p:blipFill rotWithShape="1">
          <a:blip r:embed="rId4">
            <a:alphaModFix/>
          </a:blip>
          <a:srcRect l="7025" r="4821"/>
          <a:stretch/>
        </p:blipFill>
        <p:spPr>
          <a:xfrm>
            <a:off x="5875550" y="1420863"/>
            <a:ext cx="2987350" cy="20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bb71fc23f3_0_11"/>
          <p:cNvSpPr txBox="1"/>
          <p:nvPr/>
        </p:nvSpPr>
        <p:spPr>
          <a:xfrm>
            <a:off x="227700" y="4075361"/>
            <a:ext cx="8688600" cy="22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Problem: From Sibiu to Bucharest. </a:t>
            </a:r>
            <a:endParaRPr sz="15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AutoNum type="arabicPeriod"/>
            </a:pPr>
            <a:r>
              <a:rPr lang="en-U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successors of Sibiu are Rimnicu Vilcea and Fagaras, with costs 80 and 99, respectively. 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AutoNum type="arabicPeriod"/>
            </a:pPr>
            <a:r>
              <a:rPr lang="en-U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least-cost node, Rimnicu Vilcea, is expanded next, adding Pitesti with cost 80 + 97=177. 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AutoNum type="arabicPeriod"/>
            </a:pPr>
            <a:r>
              <a:rPr lang="en-U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least-cost node is now Fagaras, so it is expanded, adding Bucharest with cost 99+211=310. 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AutoNum type="arabicPeriod"/>
            </a:pPr>
            <a:r>
              <a:rPr lang="en-U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Now a goal node has been generated, but uniform-cost search keeps going, choosing Pitesti for expansion and adding a second path to Bucharest with cost 80+97+101= 278. 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AutoNum type="arabicPeriod"/>
            </a:pPr>
            <a:r>
              <a:rPr lang="en-U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Now the algorithm checks to see if this new path is better than the old one; it is, so the old one is discarded. Bucharest, now with g-cost 278, is selected for expansion and the solution is returned.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Uniform-­Cost Properties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9" name="Google Shape;379;p4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81" name="Google Shape;381;p42"/>
          <p:cNvSpPr txBox="1"/>
          <p:nvPr/>
        </p:nvSpPr>
        <p:spPr>
          <a:xfrm>
            <a:off x="306387" y="1025059"/>
            <a:ext cx="8433300" cy="4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Completeness?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0" indent="-260350" algn="l" rtl="0">
              <a:lnSpc>
                <a:spcPct val="115000"/>
              </a:lnSpc>
              <a:spcBef>
                <a:spcPts val="259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If each transition has cost ≥ ε &gt; 0.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marR="107314" lvl="0" indent="-254000" algn="l" rtl="0">
              <a:lnSpc>
                <a:spcPct val="115000"/>
              </a:lnSpc>
              <a:spcBef>
                <a:spcPts val="484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The previous argument used for breadth first search holds: the cost of the path represented by each node n chosen to be expanded must be non-­decreasing.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SzPts val="2400"/>
              <a:buFont typeface="Calibri"/>
              <a:buNone/>
            </a:pP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Optimality?</a:t>
            </a:r>
            <a:endParaRPr sz="26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2450" lvl="0" indent="-260350" algn="l" rtl="0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Finds optimal solution if each transition has cost ≥ ε &gt; 0.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5080" lvl="1" indent="-234950" algn="l" rtl="0">
              <a:lnSpc>
                <a:spcPct val="115000"/>
              </a:lnSpc>
              <a:spcBef>
                <a:spcPts val="49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Explores paths in the search space in increasing order of cost. So must find minimum cost path to a goal before finding any higher cost path.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Uniform-­Cost Search : Proof of Optimality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7" name="Google Shape;387;p4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88" name="Google Shape;388;p4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89" name="Google Shape;389;p44"/>
          <p:cNvSpPr txBox="1"/>
          <p:nvPr/>
        </p:nvSpPr>
        <p:spPr>
          <a:xfrm>
            <a:off x="306387" y="1020825"/>
            <a:ext cx="8477400" cy="44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Lemma 1.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00050" marR="5080" lvl="0" indent="0" algn="l" rtl="0">
              <a:lnSpc>
                <a:spcPct val="100099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Let c(n) be the cost of node n on OPEN (cost of the path represented by n). If n2 is expanded IMMEDIATELY after n1 then: </a:t>
            </a:r>
            <a:r>
              <a:rPr lang="en-US" sz="210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c(n1) ≤ c(n2)</a:t>
            </a: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Proof: </a:t>
            </a:r>
            <a:endParaRPr sz="25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lvl="0" indent="-335915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100"/>
              <a:buFont typeface="Proxima Nova"/>
              <a:buAutoNum type="alphaLcPeriod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n2 was on OPEN when n1 was expanded: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marR="74683" lvl="0" indent="-17145" algn="l" rtl="0">
              <a:lnSpc>
                <a:spcPct val="1008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700" i="1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We must have c(n1) </a:t>
            </a:r>
            <a:r>
              <a:rPr lang="en-US" sz="1700">
                <a:solidFill>
                  <a:srgbClr val="011279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lang="en-US" sz="1700" i="1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c(n2) otherwise n2 would have been selected for expansion rather than n1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5465" lvl="0" indent="-3359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AutoNum type="alphaLcPeriod" startAt="2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n2 was added to OPEN when n1 was expanded: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42925" marR="74683" lvl="0" indent="28575" algn="l" rtl="0">
              <a:lnSpc>
                <a:spcPct val="116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1700" i="1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Now c(n1) </a:t>
            </a:r>
            <a:r>
              <a:rPr lang="en-US" sz="1700">
                <a:solidFill>
                  <a:srgbClr val="011279"/>
                </a:solidFill>
                <a:latin typeface="Proxima Nova"/>
                <a:ea typeface="Proxima Nova"/>
                <a:cs typeface="Proxima Nova"/>
                <a:sym typeface="Proxima Nova"/>
              </a:rPr>
              <a:t>&lt; </a:t>
            </a:r>
            <a:r>
              <a:rPr lang="en-US" sz="1700" i="1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c(n2) since the path represented by n2 extends the path represented by n1 and thus costs at least </a:t>
            </a:r>
            <a:r>
              <a:rPr lang="en-US" sz="1700" i="1">
                <a:solidFill>
                  <a:srgbClr val="011279"/>
                </a:solidFill>
                <a:latin typeface="Proxima Nova"/>
                <a:ea typeface="Proxima Nova"/>
                <a:cs typeface="Proxima Nova"/>
                <a:sym typeface="Proxima Nova"/>
              </a:rPr>
              <a:t>ε </a:t>
            </a:r>
            <a:r>
              <a:rPr lang="en-US" sz="1700" i="1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more.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95" name="Google Shape;395;p4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396" name="Google Shape;396;p45"/>
          <p:cNvSpPr txBox="1"/>
          <p:nvPr/>
        </p:nvSpPr>
        <p:spPr>
          <a:xfrm>
            <a:off x="306375" y="1025050"/>
            <a:ext cx="87054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Lemma 2.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74353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latin typeface="Proxima Nova"/>
                <a:ea typeface="Proxima Nova"/>
                <a:cs typeface="Proxima Nova"/>
                <a:sym typeface="Proxima Nova"/>
              </a:rPr>
              <a:t>When node n is expanded every path in the search space with cost strictly less than c(n) has already been expanded.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74353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Proof:</a:t>
            </a:r>
            <a:endParaRPr sz="25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lvl="0" indent="-336550" algn="l" rtl="0">
              <a:lnSpc>
                <a:spcPct val="115000"/>
              </a:lnSpc>
              <a:spcBef>
                <a:spcPts val="225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Let nk = &lt;Start, s1, …, sk&gt; be a path with cost less than c(n).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lvl="0" indent="-336550" algn="l" rtl="0">
              <a:lnSpc>
                <a:spcPct val="115000"/>
              </a:lnSpc>
              <a:spcBef>
                <a:spcPts val="225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Let n0 = &lt;Start&gt;, n1 = &lt;Start, s1&gt;, n2 = &lt;Start, s1, s2&gt;, …, ni = &lt;Start, s1, …, si&gt;, …, nk = &lt;Start, s1, …, sk&gt;. Let ni be </a:t>
            </a:r>
            <a:r>
              <a:rPr lang="en-US" sz="1700" i="1">
                <a:latin typeface="Proxima Nova"/>
                <a:ea typeface="Proxima Nova"/>
                <a:cs typeface="Proxima Nova"/>
                <a:sym typeface="Proxima Nova"/>
              </a:rPr>
              <a:t>the last node in this sequence that has already been expanded by search.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139065" lvl="0" indent="-336550" algn="l" rtl="0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So, ni+1 must still be on OPEN: it was added to open when ni was expanded. Also c(ni+1) </a:t>
            </a:r>
            <a:r>
              <a:rPr lang="en-US" sz="1700">
                <a:solidFill>
                  <a:srgbClr val="000066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c(nk) &lt; c(n): c(ni+1) is a subpath of nk we have assumed that c(nk) is &lt; c(n).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lvl="0" indent="-336550" algn="l" rtl="0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But then uniform-­‐cost would have expanded ni+1 not n.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110489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>
                <a:latin typeface="Proxima Nova"/>
                <a:ea typeface="Proxima Nova"/>
                <a:cs typeface="Proxima Nova"/>
                <a:sym typeface="Proxima Nova"/>
              </a:rPr>
              <a:t>So every node ni including nk must already be expanded, i.e., this lower cost path has already been expanded.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7" name="Google Shape;397;p4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Uniform-­Cost Search : Proof of Optimality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403" name="Google Shape;403;p4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404" name="Google Shape;404;p46"/>
          <p:cNvSpPr txBox="1"/>
          <p:nvPr/>
        </p:nvSpPr>
        <p:spPr>
          <a:xfrm>
            <a:off x="204450" y="1023375"/>
            <a:ext cx="8735100" cy="4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5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Lemma 3.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00050" marR="180975" lvl="0" indent="0" algn="l" rtl="0">
              <a:lnSpc>
                <a:spcPct val="115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The first time uniform-­cost expands a node n terminating at state S, it has found the minimal cost path to S (it might later find other paths to S but none of them can be cheaper).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595"/>
              </a:spcBef>
              <a:spcAft>
                <a:spcPts val="0"/>
              </a:spcAft>
              <a:buNone/>
            </a:pP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Proof:</a:t>
            </a:r>
            <a:endParaRPr sz="25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672465" marR="5080" lvl="0" indent="-381000" algn="l" rtl="0">
              <a:lnSpc>
                <a:spcPct val="115000"/>
              </a:lnSpc>
              <a:spcBef>
                <a:spcPts val="455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All cheaper paths have already been expanded, none of them terminated at S.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72465" marR="104139" lvl="0" indent="-381000" algn="l" rtl="0">
              <a:lnSpc>
                <a:spcPct val="115000"/>
              </a:lnSpc>
              <a:spcBef>
                <a:spcPts val="359"/>
              </a:spcBef>
              <a:spcAft>
                <a:spcPts val="0"/>
              </a:spcAft>
              <a:buSzPts val="18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All paths expanded after n will be at least as expensive, so no cheaper path to S can be found later.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80"/>
              </a:spcBef>
              <a:spcAft>
                <a:spcPts val="0"/>
              </a:spcAft>
              <a:buNone/>
            </a:pP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marR="118745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Proxima Nova"/>
                <a:ea typeface="Proxima Nova"/>
                <a:cs typeface="Proxima Nova"/>
                <a:sym typeface="Proxima Nova"/>
              </a:rPr>
              <a:t>So, when a path to a goal state is expanded the path must be optimal (lowest cost).</a:t>
            </a:r>
            <a:endParaRPr sz="2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5" name="Google Shape;405;p46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Uniform-­Cost Search : Proof of Optimality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b71fc23f3_0_2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Food for Thought - II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1" name="Google Shape;411;g3bb71fc23f3_0_2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12" name="Google Shape;412;g3bb71fc23f3_0_2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413" name="Google Shape;413;g3bb71fc23f3_0_28"/>
          <p:cNvSpPr txBox="1"/>
          <p:nvPr/>
        </p:nvSpPr>
        <p:spPr>
          <a:xfrm>
            <a:off x="114450" y="1108475"/>
            <a:ext cx="8915100" cy="20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0" marR="5417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Try applying BFS and UCS algorithms to the search space formalizations you designed for the situations in Slide 24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0580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1132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 between the outcomes in terms of space &amp; time requirements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0580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>
            <a:spLocks noGrp="1"/>
          </p:cNvSpPr>
          <p:nvPr>
            <p:ph type="title"/>
          </p:nvPr>
        </p:nvSpPr>
        <p:spPr>
          <a:xfrm>
            <a:off x="2075549" y="3076200"/>
            <a:ext cx="49929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Proxima Nova"/>
                <a:ea typeface="Proxima Nova"/>
                <a:cs typeface="Proxima Nova"/>
                <a:sym typeface="Proxima Nova"/>
              </a:rPr>
              <a:t>Depth-­First Search</a:t>
            </a:r>
            <a:endParaRPr sz="4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9" name="Google Shape;419;p4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20" name="Google Shape;420;p4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b71fc23f3_0_3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426" name="Google Shape;426;g3bb71fc23f3_0_3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427" name="Google Shape;427;g3bb71fc23f3_0_3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Depth-­First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8" name="Google Shape;428;g3bb71fc23f3_0_37" title="Screenshot 2026-01-24 at 10.31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988" y="905470"/>
            <a:ext cx="6946024" cy="559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Depth-­First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4" name="Google Shape;434;p4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5" name="Google Shape;435;p4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roxima Nova"/>
                <a:ea typeface="Proxima Nova"/>
                <a:cs typeface="Proxima Nova"/>
                <a:sym typeface="Proxima Nova"/>
              </a:rPr>
              <a:t>    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36" name="Google Shape;436;p49"/>
          <p:cNvGrpSpPr/>
          <p:nvPr/>
        </p:nvGrpSpPr>
        <p:grpSpPr>
          <a:xfrm>
            <a:off x="156787" y="913075"/>
            <a:ext cx="8830425" cy="4815925"/>
            <a:chOff x="181200" y="913075"/>
            <a:chExt cx="8830425" cy="4815925"/>
          </a:xfrm>
        </p:grpSpPr>
        <p:sp>
          <p:nvSpPr>
            <p:cNvPr id="437" name="Google Shape;437;p49"/>
            <p:cNvSpPr txBox="1"/>
            <p:nvPr/>
          </p:nvSpPr>
          <p:spPr>
            <a:xfrm>
              <a:off x="181200" y="959600"/>
              <a:ext cx="8781600" cy="47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000" rIns="0" bIns="0" anchor="t" anchorCtr="0">
              <a:spAutoFit/>
            </a:bodyPr>
            <a:lstStyle/>
            <a:p>
              <a:pPr marL="12700" marR="181126" lvl="0" indent="267970" algn="l" rtl="0">
                <a:lnSpc>
                  <a:spcPct val="115000"/>
                </a:lnSpc>
                <a:spcBef>
                  <a:spcPts val="21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Water jugs problem</a:t>
              </a:r>
              <a:endParaRPr sz="23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12700" marR="181126" lvl="0" indent="267970" algn="l" rtl="0">
                <a:lnSpc>
                  <a:spcPct val="115000"/>
                </a:lnSpc>
                <a:spcBef>
                  <a:spcPts val="210"/>
                </a:spcBef>
                <a:spcAft>
                  <a:spcPts val="0"/>
                </a:spcAft>
                <a:buNone/>
              </a:pPr>
              <a:endParaRPr sz="23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342900" marR="181126" lvl="0" indent="0" algn="l" rtl="0">
                <a:lnSpc>
                  <a:spcPct val="115000"/>
                </a:lnSpc>
                <a:spcBef>
                  <a:spcPts val="21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Start</a:t>
              </a:r>
              <a:r>
                <a:rPr lang="en-US" sz="20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= (0,0); </a:t>
              </a:r>
              <a:r>
                <a:rPr lang="en-US" sz="20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Goal</a:t>
              </a:r>
              <a:r>
                <a:rPr lang="en-US" sz="20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= (*,2); </a:t>
              </a:r>
              <a:r>
                <a:rPr lang="en-US" sz="20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Green</a:t>
              </a:r>
              <a:r>
                <a:rPr lang="en-US" sz="20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= Newly Added.</a:t>
              </a:r>
              <a:endPara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342900" marR="181126" lvl="0" indent="0" algn="l" rtl="0">
                <a:lnSpc>
                  <a:spcPct val="115000"/>
                </a:lnSpc>
                <a:spcBef>
                  <a:spcPts val="21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Actions:</a:t>
              </a:r>
              <a:r>
                <a:rPr lang="en-US" sz="20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Empty-­‐3-­‐Gallon, Empty-­‐4-­‐Gallon, Fill-­‐3-­‐Gallon, Fill-­‐4-­‐ Gallon, Pour-­‐3-­‐into-­‐4, Pour 4-­‐into-­‐3.</a:t>
              </a:r>
              <a:endPara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342900" marR="181126" lvl="0" indent="0" algn="l" rtl="0">
                <a:lnSpc>
                  <a:spcPct val="115000"/>
                </a:lnSpc>
                <a:spcBef>
                  <a:spcPts val="21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-307975" algn="l" rtl="0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SzPts val="2000"/>
                <a:buFont typeface="Proxima Nova"/>
                <a:buAutoNum type="arabicPeriod"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OPEN = {&lt;(0,0)&gt;}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-307975" algn="l" rtl="0">
                <a:lnSpc>
                  <a:spcPct val="115000"/>
                </a:lnSpc>
                <a:spcBef>
                  <a:spcPts val="740"/>
                </a:spcBef>
                <a:spcAft>
                  <a:spcPts val="0"/>
                </a:spcAft>
                <a:buSzPts val="2000"/>
                <a:buFont typeface="Calibri"/>
                <a:buAutoNum type="arabicPeriod"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OPEN = {</a:t>
              </a:r>
              <a:r>
                <a:rPr lang="en-US" sz="2000" b="1">
                  <a:solidFill>
                    <a:srgbClr val="009D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&lt;(0,0), (3,0)&gt;, &lt;(0,0), (0,4)&gt;</a:t>
              </a: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}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-307975" algn="l" rtl="0">
                <a:lnSpc>
                  <a:spcPct val="115000"/>
                </a:lnSpc>
                <a:spcBef>
                  <a:spcPts val="640"/>
                </a:spcBef>
                <a:spcAft>
                  <a:spcPts val="0"/>
                </a:spcAft>
                <a:buSzPts val="2000"/>
                <a:buFont typeface="Calibri"/>
                <a:buAutoNum type="arabicPeriod"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OPEN = {</a:t>
              </a:r>
              <a:r>
                <a:rPr lang="en-US" sz="2000">
                  <a:solidFill>
                    <a:srgbClr val="009D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&lt;</a:t>
              </a:r>
              <a:r>
                <a:rPr lang="en-US" sz="2000" b="1">
                  <a:solidFill>
                    <a:srgbClr val="009D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(0,0),(3,0),(0,0)&gt;, &lt;(0,0),(3,0),(3,4)&gt;,</a:t>
              </a: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000" b="1">
                  <a:solidFill>
                    <a:srgbClr val="009D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&lt;(0,0),(3,0),(0,3)&gt;</a:t>
              </a: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, 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&lt;(0,4),(0,0)&gt;}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-307975" algn="l" rtl="0">
                <a:lnSpc>
                  <a:spcPct val="115000"/>
                </a:lnSpc>
                <a:spcBef>
                  <a:spcPts val="715"/>
                </a:spcBef>
                <a:spcAft>
                  <a:spcPts val="0"/>
                </a:spcAft>
                <a:buSzPts val="2000"/>
                <a:buFont typeface="Calibri"/>
                <a:buAutoNum type="arabicPeriod" startAt="4"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OPEN = {</a:t>
              </a:r>
              <a:r>
                <a:rPr lang="en-US" sz="2000" b="1">
                  <a:solidFill>
                    <a:srgbClr val="009D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&lt;(0,0),(3,0),(0,0),(3,0)&gt;, &lt;(0,0),(3,0),(0,0),(0,4)&gt;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74295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Proxima Nova"/>
                  <a:ea typeface="Proxima Nova"/>
                  <a:cs typeface="Proxima Nova"/>
                  <a:sym typeface="Proxima Nova"/>
                </a:rPr>
                <a:t>&lt;(0,0), (3,0), (3,4)&gt;, &lt;(0,0),(3,0),(0,3)&gt;, &lt;(0,0),(0,4)&gt;}</a:t>
              </a:r>
              <a:endParaRPr sz="2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8" name="Google Shape;438;p49"/>
            <p:cNvSpPr txBox="1"/>
            <p:nvPr/>
          </p:nvSpPr>
          <p:spPr>
            <a:xfrm>
              <a:off x="5021925" y="913075"/>
              <a:ext cx="3989700" cy="7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9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Differences in data structures to maintain OPEN in BFS vs UCS vs DFS?</a:t>
              </a:r>
              <a:endParaRPr sz="1600" b="1">
                <a:solidFill>
                  <a:srgbClr val="00009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/>
          <p:nvPr/>
        </p:nvSpPr>
        <p:spPr>
          <a:xfrm>
            <a:off x="228600" y="2842856"/>
            <a:ext cx="8686800" cy="506730"/>
          </a:xfrm>
          <a:custGeom>
            <a:avLst/>
            <a:gdLst/>
            <a:ahLst/>
            <a:cxnLst/>
            <a:rect l="l" t="t" r="r" b="b"/>
            <a:pathLst>
              <a:path w="8686800" h="506729" extrusionOk="0">
                <a:moveTo>
                  <a:pt x="8636152" y="0"/>
                </a:moveTo>
                <a:lnTo>
                  <a:pt x="50645" y="0"/>
                </a:lnTo>
                <a:lnTo>
                  <a:pt x="30931" y="3981"/>
                </a:lnTo>
                <a:lnTo>
                  <a:pt x="14833" y="14836"/>
                </a:lnTo>
                <a:lnTo>
                  <a:pt x="3979" y="30936"/>
                </a:lnTo>
                <a:lnTo>
                  <a:pt x="0" y="50647"/>
                </a:lnTo>
                <a:lnTo>
                  <a:pt x="0" y="455803"/>
                </a:lnTo>
                <a:lnTo>
                  <a:pt x="3979" y="475519"/>
                </a:lnTo>
                <a:lnTo>
                  <a:pt x="14833" y="491618"/>
                </a:lnTo>
                <a:lnTo>
                  <a:pt x="30931" y="502471"/>
                </a:lnTo>
                <a:lnTo>
                  <a:pt x="50645" y="506450"/>
                </a:lnTo>
                <a:lnTo>
                  <a:pt x="8636152" y="506450"/>
                </a:lnTo>
                <a:lnTo>
                  <a:pt x="8655869" y="502471"/>
                </a:lnTo>
                <a:lnTo>
                  <a:pt x="8671967" y="491618"/>
                </a:lnTo>
                <a:lnTo>
                  <a:pt x="8682820" y="475519"/>
                </a:lnTo>
                <a:lnTo>
                  <a:pt x="8686800" y="455803"/>
                </a:lnTo>
                <a:lnTo>
                  <a:pt x="8686800" y="50647"/>
                </a:lnTo>
                <a:lnTo>
                  <a:pt x="8682820" y="30936"/>
                </a:lnTo>
                <a:lnTo>
                  <a:pt x="8671967" y="14836"/>
                </a:lnTo>
                <a:lnTo>
                  <a:pt x="8655869" y="3981"/>
                </a:lnTo>
                <a:lnTo>
                  <a:pt x="8636152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0"/>
          <p:cNvSpPr txBox="1"/>
          <p:nvPr/>
        </p:nvSpPr>
        <p:spPr>
          <a:xfrm>
            <a:off x="1216640" y="2943047"/>
            <a:ext cx="636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roxima Nova"/>
                <a:ea typeface="Proxima Nova"/>
                <a:cs typeface="Proxima Nova"/>
                <a:sym typeface="Proxima Nova"/>
              </a:rPr>
              <a:t>Level 3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5" name="Google Shape;445;p50"/>
          <p:cNvSpPr/>
          <p:nvPr/>
        </p:nvSpPr>
        <p:spPr>
          <a:xfrm>
            <a:off x="228600" y="2252002"/>
            <a:ext cx="8686800" cy="506730"/>
          </a:xfrm>
          <a:custGeom>
            <a:avLst/>
            <a:gdLst/>
            <a:ahLst/>
            <a:cxnLst/>
            <a:rect l="l" t="t" r="r" b="b"/>
            <a:pathLst>
              <a:path w="8686800" h="506730" extrusionOk="0">
                <a:moveTo>
                  <a:pt x="8636152" y="0"/>
                </a:moveTo>
                <a:lnTo>
                  <a:pt x="50645" y="0"/>
                </a:lnTo>
                <a:lnTo>
                  <a:pt x="30931" y="3981"/>
                </a:lnTo>
                <a:lnTo>
                  <a:pt x="14833" y="14836"/>
                </a:lnTo>
                <a:lnTo>
                  <a:pt x="3979" y="30936"/>
                </a:lnTo>
                <a:lnTo>
                  <a:pt x="0" y="50647"/>
                </a:lnTo>
                <a:lnTo>
                  <a:pt x="0" y="455803"/>
                </a:lnTo>
                <a:lnTo>
                  <a:pt x="3979" y="475514"/>
                </a:lnTo>
                <a:lnTo>
                  <a:pt x="14833" y="491613"/>
                </a:lnTo>
                <a:lnTo>
                  <a:pt x="30931" y="502469"/>
                </a:lnTo>
                <a:lnTo>
                  <a:pt x="50645" y="506450"/>
                </a:lnTo>
                <a:lnTo>
                  <a:pt x="8636152" y="506450"/>
                </a:lnTo>
                <a:lnTo>
                  <a:pt x="8655869" y="502469"/>
                </a:lnTo>
                <a:lnTo>
                  <a:pt x="8671967" y="491613"/>
                </a:lnTo>
                <a:lnTo>
                  <a:pt x="8682820" y="475514"/>
                </a:lnTo>
                <a:lnTo>
                  <a:pt x="8686800" y="455803"/>
                </a:lnTo>
                <a:lnTo>
                  <a:pt x="8686800" y="50647"/>
                </a:lnTo>
                <a:lnTo>
                  <a:pt x="8682820" y="30936"/>
                </a:lnTo>
                <a:lnTo>
                  <a:pt x="8671967" y="14836"/>
                </a:lnTo>
                <a:lnTo>
                  <a:pt x="8655869" y="3981"/>
                </a:lnTo>
                <a:lnTo>
                  <a:pt x="8636152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6" name="Google Shape;446;p50"/>
          <p:cNvSpPr txBox="1"/>
          <p:nvPr/>
        </p:nvSpPr>
        <p:spPr>
          <a:xfrm>
            <a:off x="1216640" y="2352192"/>
            <a:ext cx="636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roxima Nova"/>
                <a:ea typeface="Proxima Nova"/>
                <a:cs typeface="Proxima Nova"/>
                <a:sym typeface="Proxima Nova"/>
              </a:rPr>
              <a:t>Level 2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7" name="Google Shape;447;p50"/>
          <p:cNvSpPr/>
          <p:nvPr/>
        </p:nvSpPr>
        <p:spPr>
          <a:xfrm>
            <a:off x="228600" y="1661147"/>
            <a:ext cx="8686800" cy="506730"/>
          </a:xfrm>
          <a:custGeom>
            <a:avLst/>
            <a:gdLst/>
            <a:ahLst/>
            <a:cxnLst/>
            <a:rect l="l" t="t" r="r" b="b"/>
            <a:pathLst>
              <a:path w="8686800" h="506730" extrusionOk="0">
                <a:moveTo>
                  <a:pt x="8636152" y="0"/>
                </a:moveTo>
                <a:lnTo>
                  <a:pt x="50645" y="0"/>
                </a:lnTo>
                <a:lnTo>
                  <a:pt x="30931" y="3981"/>
                </a:lnTo>
                <a:lnTo>
                  <a:pt x="14833" y="14836"/>
                </a:lnTo>
                <a:lnTo>
                  <a:pt x="3979" y="30936"/>
                </a:lnTo>
                <a:lnTo>
                  <a:pt x="0" y="50647"/>
                </a:lnTo>
                <a:lnTo>
                  <a:pt x="0" y="455803"/>
                </a:lnTo>
                <a:lnTo>
                  <a:pt x="3979" y="475514"/>
                </a:lnTo>
                <a:lnTo>
                  <a:pt x="14833" y="491613"/>
                </a:lnTo>
                <a:lnTo>
                  <a:pt x="30931" y="502469"/>
                </a:lnTo>
                <a:lnTo>
                  <a:pt x="50645" y="506450"/>
                </a:lnTo>
                <a:lnTo>
                  <a:pt x="8636152" y="506450"/>
                </a:lnTo>
                <a:lnTo>
                  <a:pt x="8655869" y="502469"/>
                </a:lnTo>
                <a:lnTo>
                  <a:pt x="8671967" y="491613"/>
                </a:lnTo>
                <a:lnTo>
                  <a:pt x="8682820" y="475514"/>
                </a:lnTo>
                <a:lnTo>
                  <a:pt x="8686800" y="455803"/>
                </a:lnTo>
                <a:lnTo>
                  <a:pt x="8686800" y="50647"/>
                </a:lnTo>
                <a:lnTo>
                  <a:pt x="8682820" y="30936"/>
                </a:lnTo>
                <a:lnTo>
                  <a:pt x="8671967" y="14836"/>
                </a:lnTo>
                <a:lnTo>
                  <a:pt x="8655869" y="3981"/>
                </a:lnTo>
                <a:lnTo>
                  <a:pt x="8636152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50"/>
          <p:cNvSpPr txBox="1"/>
          <p:nvPr/>
        </p:nvSpPr>
        <p:spPr>
          <a:xfrm>
            <a:off x="1216640" y="1761337"/>
            <a:ext cx="636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roxima Nova"/>
                <a:ea typeface="Proxima Nova"/>
                <a:cs typeface="Proxima Nova"/>
                <a:sym typeface="Proxima Nova"/>
              </a:rPr>
              <a:t>Level 1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9" name="Google Shape;449;p50"/>
          <p:cNvSpPr/>
          <p:nvPr/>
        </p:nvSpPr>
        <p:spPr>
          <a:xfrm>
            <a:off x="228600" y="1070292"/>
            <a:ext cx="8686800" cy="506730"/>
          </a:xfrm>
          <a:custGeom>
            <a:avLst/>
            <a:gdLst/>
            <a:ahLst/>
            <a:cxnLst/>
            <a:rect l="l" t="t" r="r" b="b"/>
            <a:pathLst>
              <a:path w="8686800" h="506730" extrusionOk="0">
                <a:moveTo>
                  <a:pt x="8636152" y="0"/>
                </a:moveTo>
                <a:lnTo>
                  <a:pt x="50645" y="0"/>
                </a:lnTo>
                <a:lnTo>
                  <a:pt x="30931" y="3981"/>
                </a:lnTo>
                <a:lnTo>
                  <a:pt x="14833" y="14836"/>
                </a:lnTo>
                <a:lnTo>
                  <a:pt x="3979" y="30936"/>
                </a:lnTo>
                <a:lnTo>
                  <a:pt x="0" y="50647"/>
                </a:lnTo>
                <a:lnTo>
                  <a:pt x="0" y="455803"/>
                </a:lnTo>
                <a:lnTo>
                  <a:pt x="3979" y="475514"/>
                </a:lnTo>
                <a:lnTo>
                  <a:pt x="14833" y="491613"/>
                </a:lnTo>
                <a:lnTo>
                  <a:pt x="30931" y="502469"/>
                </a:lnTo>
                <a:lnTo>
                  <a:pt x="50645" y="506450"/>
                </a:lnTo>
                <a:lnTo>
                  <a:pt x="8636152" y="506450"/>
                </a:lnTo>
                <a:lnTo>
                  <a:pt x="8655869" y="502469"/>
                </a:lnTo>
                <a:lnTo>
                  <a:pt x="8671967" y="491613"/>
                </a:lnTo>
                <a:lnTo>
                  <a:pt x="8682820" y="475514"/>
                </a:lnTo>
                <a:lnTo>
                  <a:pt x="8686800" y="455803"/>
                </a:lnTo>
                <a:lnTo>
                  <a:pt x="8686800" y="50647"/>
                </a:lnTo>
                <a:lnTo>
                  <a:pt x="8682820" y="30936"/>
                </a:lnTo>
                <a:lnTo>
                  <a:pt x="8671967" y="14836"/>
                </a:lnTo>
                <a:lnTo>
                  <a:pt x="8655869" y="3981"/>
                </a:lnTo>
                <a:lnTo>
                  <a:pt x="8636152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216640" y="1170482"/>
            <a:ext cx="636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roxima Nova"/>
                <a:ea typeface="Proxima Nova"/>
                <a:cs typeface="Proxima Nova"/>
                <a:sym typeface="Proxima Nova"/>
              </a:rPr>
              <a:t>Level 0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51" name="Google Shape;451;p50"/>
          <p:cNvGrpSpPr/>
          <p:nvPr/>
        </p:nvGrpSpPr>
        <p:grpSpPr>
          <a:xfrm>
            <a:off x="6088849" y="1112494"/>
            <a:ext cx="633095" cy="422275"/>
            <a:chOff x="6088849" y="1112494"/>
            <a:chExt cx="633095" cy="422275"/>
          </a:xfrm>
        </p:grpSpPr>
        <p:sp>
          <p:nvSpPr>
            <p:cNvPr id="452" name="Google Shape;452;p50"/>
            <p:cNvSpPr/>
            <p:nvPr/>
          </p:nvSpPr>
          <p:spPr>
            <a:xfrm>
              <a:off x="6088849" y="111249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6" y="3316"/>
                  </a:lnTo>
                  <a:lnTo>
                    <a:pt x="12361" y="12361"/>
                  </a:lnTo>
                  <a:lnTo>
                    <a:pt x="3316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6" y="396269"/>
                  </a:lnTo>
                  <a:lnTo>
                    <a:pt x="12361" y="409684"/>
                  </a:lnTo>
                  <a:lnTo>
                    <a:pt x="25776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7" y="418729"/>
                  </a:lnTo>
                  <a:lnTo>
                    <a:pt x="620706" y="409684"/>
                  </a:lnTo>
                  <a:lnTo>
                    <a:pt x="629752" y="396269"/>
                  </a:lnTo>
                  <a:lnTo>
                    <a:pt x="633069" y="379844"/>
                  </a:lnTo>
                  <a:lnTo>
                    <a:pt x="633069" y="42202"/>
                  </a:lnTo>
                  <a:lnTo>
                    <a:pt x="629752" y="25776"/>
                  </a:lnTo>
                  <a:lnTo>
                    <a:pt x="620706" y="12361"/>
                  </a:lnTo>
                  <a:lnTo>
                    <a:pt x="607287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3" name="Google Shape;453;p50"/>
            <p:cNvSpPr/>
            <p:nvPr/>
          </p:nvSpPr>
          <p:spPr>
            <a:xfrm>
              <a:off x="6088849" y="111249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3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4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6" y="12361"/>
                  </a:lnTo>
                  <a:lnTo>
                    <a:pt x="629741" y="25776"/>
                  </a:lnTo>
                  <a:lnTo>
                    <a:pt x="633057" y="42203"/>
                  </a:lnTo>
                  <a:lnTo>
                    <a:pt x="633057" y="379834"/>
                  </a:lnTo>
                  <a:lnTo>
                    <a:pt x="629741" y="396262"/>
                  </a:lnTo>
                  <a:lnTo>
                    <a:pt x="620696" y="409677"/>
                  </a:lnTo>
                  <a:lnTo>
                    <a:pt x="607282" y="418721"/>
                  </a:lnTo>
                  <a:lnTo>
                    <a:pt x="590854" y="422038"/>
                  </a:lnTo>
                  <a:lnTo>
                    <a:pt x="42204" y="422038"/>
                  </a:lnTo>
                  <a:lnTo>
                    <a:pt x="25776" y="418721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3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54" name="Google Shape;454;p50"/>
          <p:cNvSpPr txBox="1"/>
          <p:nvPr/>
        </p:nvSpPr>
        <p:spPr>
          <a:xfrm>
            <a:off x="6160596" y="1220012"/>
            <a:ext cx="4965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#1: (0,0)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55" name="Google Shape;455;p50"/>
          <p:cNvGrpSpPr/>
          <p:nvPr/>
        </p:nvGrpSpPr>
        <p:grpSpPr>
          <a:xfrm>
            <a:off x="5677369" y="1534540"/>
            <a:ext cx="728637" cy="591084"/>
            <a:chOff x="5677369" y="1534540"/>
            <a:chExt cx="728637" cy="591084"/>
          </a:xfrm>
        </p:grpSpPr>
        <p:sp>
          <p:nvSpPr>
            <p:cNvPr id="456" name="Google Shape;456;p50"/>
            <p:cNvSpPr/>
            <p:nvPr/>
          </p:nvSpPr>
          <p:spPr>
            <a:xfrm>
              <a:off x="5993891" y="1534540"/>
              <a:ext cx="412115" cy="168910"/>
            </a:xfrm>
            <a:custGeom>
              <a:avLst/>
              <a:gdLst/>
              <a:ahLst/>
              <a:cxnLst/>
              <a:rect l="l" t="t" r="r" b="b"/>
              <a:pathLst>
                <a:path w="412114" h="168910" extrusionOk="0">
                  <a:moveTo>
                    <a:pt x="411487" y="0"/>
                  </a:moveTo>
                  <a:lnTo>
                    <a:pt x="411487" y="84406"/>
                  </a:lnTo>
                  <a:lnTo>
                    <a:pt x="0" y="84406"/>
                  </a:lnTo>
                  <a:lnTo>
                    <a:pt x="0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7" name="Google Shape;457;p50"/>
            <p:cNvSpPr/>
            <p:nvPr/>
          </p:nvSpPr>
          <p:spPr>
            <a:xfrm>
              <a:off x="5677369" y="170334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1" y="3316"/>
                  </a:lnTo>
                  <a:lnTo>
                    <a:pt x="12357" y="12361"/>
                  </a:lnTo>
                  <a:lnTo>
                    <a:pt x="3315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5" y="396269"/>
                  </a:lnTo>
                  <a:lnTo>
                    <a:pt x="12357" y="409684"/>
                  </a:lnTo>
                  <a:lnTo>
                    <a:pt x="25771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8" name="Google Shape;458;p50"/>
            <p:cNvSpPr/>
            <p:nvPr/>
          </p:nvSpPr>
          <p:spPr>
            <a:xfrm>
              <a:off x="5677369" y="170334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3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4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3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1"/>
                  </a:lnTo>
                  <a:lnTo>
                    <a:pt x="590854" y="422038"/>
                  </a:lnTo>
                  <a:lnTo>
                    <a:pt x="42204" y="422038"/>
                  </a:lnTo>
                  <a:lnTo>
                    <a:pt x="25776" y="418721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3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59" name="Google Shape;459;p50"/>
          <p:cNvSpPr txBox="1"/>
          <p:nvPr/>
        </p:nvSpPr>
        <p:spPr>
          <a:xfrm>
            <a:off x="5749104" y="1810867"/>
            <a:ext cx="4965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#2: (3,0)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60" name="Google Shape;460;p50"/>
          <p:cNvGrpSpPr/>
          <p:nvPr/>
        </p:nvGrpSpPr>
        <p:grpSpPr>
          <a:xfrm>
            <a:off x="4854384" y="2125395"/>
            <a:ext cx="1140129" cy="591084"/>
            <a:chOff x="4854384" y="2125395"/>
            <a:chExt cx="1140129" cy="591084"/>
          </a:xfrm>
        </p:grpSpPr>
        <p:sp>
          <p:nvSpPr>
            <p:cNvPr id="461" name="Google Shape;461;p50"/>
            <p:cNvSpPr/>
            <p:nvPr/>
          </p:nvSpPr>
          <p:spPr>
            <a:xfrm>
              <a:off x="5170919" y="2125395"/>
              <a:ext cx="823594" cy="168910"/>
            </a:xfrm>
            <a:custGeom>
              <a:avLst/>
              <a:gdLst/>
              <a:ahLst/>
              <a:cxnLst/>
              <a:rect l="l" t="t" r="r" b="b"/>
              <a:pathLst>
                <a:path w="823595" h="168910" extrusionOk="0">
                  <a:moveTo>
                    <a:pt x="822975" y="0"/>
                  </a:moveTo>
                  <a:lnTo>
                    <a:pt x="822975" y="84406"/>
                  </a:lnTo>
                  <a:lnTo>
                    <a:pt x="0" y="84406"/>
                  </a:lnTo>
                  <a:lnTo>
                    <a:pt x="0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2" name="Google Shape;462;p50"/>
            <p:cNvSpPr/>
            <p:nvPr/>
          </p:nvSpPr>
          <p:spPr>
            <a:xfrm>
              <a:off x="4854384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6" y="3316"/>
                  </a:lnTo>
                  <a:lnTo>
                    <a:pt x="12361" y="12361"/>
                  </a:lnTo>
                  <a:lnTo>
                    <a:pt x="3316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6" y="396269"/>
                  </a:lnTo>
                  <a:lnTo>
                    <a:pt x="12361" y="409684"/>
                  </a:lnTo>
                  <a:lnTo>
                    <a:pt x="25776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5" y="418729"/>
                  </a:lnTo>
                  <a:lnTo>
                    <a:pt x="620699" y="409684"/>
                  </a:lnTo>
                  <a:lnTo>
                    <a:pt x="629741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1" y="25776"/>
                  </a:lnTo>
                  <a:lnTo>
                    <a:pt x="620699" y="12361"/>
                  </a:lnTo>
                  <a:lnTo>
                    <a:pt x="607285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3" name="Google Shape;463;p50"/>
            <p:cNvSpPr/>
            <p:nvPr/>
          </p:nvSpPr>
          <p:spPr>
            <a:xfrm>
              <a:off x="4854384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4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3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4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2"/>
                  </a:lnTo>
                  <a:lnTo>
                    <a:pt x="590854" y="422038"/>
                  </a:lnTo>
                  <a:lnTo>
                    <a:pt x="42203" y="422038"/>
                  </a:lnTo>
                  <a:lnTo>
                    <a:pt x="25776" y="418722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64" name="Google Shape;464;p50"/>
          <p:cNvSpPr txBox="1"/>
          <p:nvPr/>
        </p:nvSpPr>
        <p:spPr>
          <a:xfrm>
            <a:off x="4926131" y="2401722"/>
            <a:ext cx="4965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#3: (0,0)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65" name="Google Shape;465;p50"/>
          <p:cNvGrpSpPr/>
          <p:nvPr/>
        </p:nvGrpSpPr>
        <p:grpSpPr>
          <a:xfrm>
            <a:off x="4442904" y="2716250"/>
            <a:ext cx="728637" cy="591084"/>
            <a:chOff x="4442904" y="2716250"/>
            <a:chExt cx="728637" cy="591084"/>
          </a:xfrm>
        </p:grpSpPr>
        <p:sp>
          <p:nvSpPr>
            <p:cNvPr id="466" name="Google Shape;466;p50"/>
            <p:cNvSpPr/>
            <p:nvPr/>
          </p:nvSpPr>
          <p:spPr>
            <a:xfrm>
              <a:off x="4759426" y="2716250"/>
              <a:ext cx="412115" cy="168910"/>
            </a:xfrm>
            <a:custGeom>
              <a:avLst/>
              <a:gdLst/>
              <a:ahLst/>
              <a:cxnLst/>
              <a:rect l="l" t="t" r="r" b="b"/>
              <a:pathLst>
                <a:path w="412114" h="168910" extrusionOk="0">
                  <a:moveTo>
                    <a:pt x="411487" y="0"/>
                  </a:moveTo>
                  <a:lnTo>
                    <a:pt x="411487" y="84406"/>
                  </a:lnTo>
                  <a:lnTo>
                    <a:pt x="0" y="84406"/>
                  </a:lnTo>
                  <a:lnTo>
                    <a:pt x="0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7" name="Google Shape;467;p50"/>
            <p:cNvSpPr/>
            <p:nvPr/>
          </p:nvSpPr>
          <p:spPr>
            <a:xfrm>
              <a:off x="4442904" y="288505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1" y="3316"/>
                  </a:lnTo>
                  <a:lnTo>
                    <a:pt x="12357" y="12361"/>
                  </a:lnTo>
                  <a:lnTo>
                    <a:pt x="3315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5" y="396269"/>
                  </a:lnTo>
                  <a:lnTo>
                    <a:pt x="12357" y="409684"/>
                  </a:lnTo>
                  <a:lnTo>
                    <a:pt x="25771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8" name="Google Shape;468;p50"/>
            <p:cNvSpPr/>
            <p:nvPr/>
          </p:nvSpPr>
          <p:spPr>
            <a:xfrm>
              <a:off x="4442904" y="288505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4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3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4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1"/>
                  </a:lnTo>
                  <a:lnTo>
                    <a:pt x="590854" y="422038"/>
                  </a:lnTo>
                  <a:lnTo>
                    <a:pt x="42203" y="422038"/>
                  </a:lnTo>
                  <a:lnTo>
                    <a:pt x="25776" y="418721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4"/>
                  </a:lnTo>
                  <a:close/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69" name="Google Shape;469;p50"/>
          <p:cNvSpPr txBox="1"/>
          <p:nvPr/>
        </p:nvSpPr>
        <p:spPr>
          <a:xfrm>
            <a:off x="4498847" y="2992577"/>
            <a:ext cx="527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#4: (3, 0)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70" name="Google Shape;470;p50"/>
          <p:cNvGrpSpPr/>
          <p:nvPr/>
        </p:nvGrpSpPr>
        <p:grpSpPr>
          <a:xfrm>
            <a:off x="5170919" y="2716250"/>
            <a:ext cx="728053" cy="591084"/>
            <a:chOff x="5170919" y="2716250"/>
            <a:chExt cx="728053" cy="591084"/>
          </a:xfrm>
        </p:grpSpPr>
        <p:sp>
          <p:nvSpPr>
            <p:cNvPr id="471" name="Google Shape;471;p50"/>
            <p:cNvSpPr/>
            <p:nvPr/>
          </p:nvSpPr>
          <p:spPr>
            <a:xfrm>
              <a:off x="5170919" y="2716250"/>
              <a:ext cx="412115" cy="168910"/>
            </a:xfrm>
            <a:custGeom>
              <a:avLst/>
              <a:gdLst/>
              <a:ahLst/>
              <a:cxnLst/>
              <a:rect l="l" t="t" r="r" b="b"/>
              <a:pathLst>
                <a:path w="412114" h="168910" extrusionOk="0">
                  <a:moveTo>
                    <a:pt x="0" y="0"/>
                  </a:moveTo>
                  <a:lnTo>
                    <a:pt x="0" y="84406"/>
                  </a:lnTo>
                  <a:lnTo>
                    <a:pt x="411487" y="84406"/>
                  </a:lnTo>
                  <a:lnTo>
                    <a:pt x="411487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2" name="Google Shape;472;p50"/>
            <p:cNvSpPr/>
            <p:nvPr/>
          </p:nvSpPr>
          <p:spPr>
            <a:xfrm>
              <a:off x="5265877" y="288505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6" y="3316"/>
                  </a:lnTo>
                  <a:lnTo>
                    <a:pt x="12361" y="12361"/>
                  </a:lnTo>
                  <a:lnTo>
                    <a:pt x="3316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6" y="396269"/>
                  </a:lnTo>
                  <a:lnTo>
                    <a:pt x="12361" y="409684"/>
                  </a:lnTo>
                  <a:lnTo>
                    <a:pt x="25776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3" name="Google Shape;473;p50"/>
            <p:cNvSpPr/>
            <p:nvPr/>
          </p:nvSpPr>
          <p:spPr>
            <a:xfrm>
              <a:off x="5265877" y="288505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4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4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4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1"/>
                  </a:lnTo>
                  <a:lnTo>
                    <a:pt x="590854" y="422038"/>
                  </a:lnTo>
                  <a:lnTo>
                    <a:pt x="42204" y="422038"/>
                  </a:lnTo>
                  <a:lnTo>
                    <a:pt x="25776" y="418721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4"/>
                  </a:lnTo>
                  <a:close/>
                </a:path>
              </a:pathLst>
            </a:custGeom>
            <a:noFill/>
            <a:ln w="25375" cap="flat" cmpd="sng">
              <a:solidFill>
                <a:srgbClr val="FF2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74" name="Google Shape;474;p50"/>
          <p:cNvSpPr txBox="1"/>
          <p:nvPr/>
        </p:nvSpPr>
        <p:spPr>
          <a:xfrm>
            <a:off x="5442284" y="2992577"/>
            <a:ext cx="287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(0,4)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75" name="Google Shape;475;p50"/>
          <p:cNvGrpSpPr/>
          <p:nvPr/>
        </p:nvGrpSpPr>
        <p:grpSpPr>
          <a:xfrm>
            <a:off x="5677369" y="2125395"/>
            <a:ext cx="633095" cy="591084"/>
            <a:chOff x="5677369" y="2125395"/>
            <a:chExt cx="633095" cy="591084"/>
          </a:xfrm>
        </p:grpSpPr>
        <p:sp>
          <p:nvSpPr>
            <p:cNvPr id="476" name="Google Shape;476;p50"/>
            <p:cNvSpPr/>
            <p:nvPr/>
          </p:nvSpPr>
          <p:spPr>
            <a:xfrm>
              <a:off x="5993891" y="2125395"/>
              <a:ext cx="0" cy="168910"/>
            </a:xfrm>
            <a:custGeom>
              <a:avLst/>
              <a:gdLst/>
              <a:ahLst/>
              <a:cxnLst/>
              <a:rect l="l" t="t" r="r" b="b"/>
              <a:pathLst>
                <a:path w="120000" h="168910" extrusionOk="0">
                  <a:moveTo>
                    <a:pt x="0" y="0"/>
                  </a:moveTo>
                  <a:lnTo>
                    <a:pt x="0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7" name="Google Shape;477;p50"/>
            <p:cNvSpPr/>
            <p:nvPr/>
          </p:nvSpPr>
          <p:spPr>
            <a:xfrm>
              <a:off x="5677369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1" y="3316"/>
                  </a:lnTo>
                  <a:lnTo>
                    <a:pt x="12357" y="12361"/>
                  </a:lnTo>
                  <a:lnTo>
                    <a:pt x="3315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5" y="396269"/>
                  </a:lnTo>
                  <a:lnTo>
                    <a:pt x="12357" y="409684"/>
                  </a:lnTo>
                  <a:lnTo>
                    <a:pt x="25771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8" name="Google Shape;478;p50"/>
            <p:cNvSpPr/>
            <p:nvPr/>
          </p:nvSpPr>
          <p:spPr>
            <a:xfrm>
              <a:off x="5677369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4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4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4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2"/>
                  </a:lnTo>
                  <a:lnTo>
                    <a:pt x="590854" y="422038"/>
                  </a:lnTo>
                  <a:lnTo>
                    <a:pt x="42204" y="422038"/>
                  </a:lnTo>
                  <a:lnTo>
                    <a:pt x="25776" y="418722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4"/>
                  </a:lnTo>
                  <a:close/>
                </a:path>
              </a:pathLst>
            </a:custGeom>
            <a:noFill/>
            <a:ln w="25375" cap="flat" cmpd="sng">
              <a:solidFill>
                <a:srgbClr val="FF2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79" name="Google Shape;479;p50"/>
          <p:cNvSpPr txBox="1"/>
          <p:nvPr/>
        </p:nvSpPr>
        <p:spPr>
          <a:xfrm>
            <a:off x="5853776" y="2401722"/>
            <a:ext cx="287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(3,4)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80" name="Google Shape;480;p50"/>
          <p:cNvGrpSpPr/>
          <p:nvPr/>
        </p:nvGrpSpPr>
        <p:grpSpPr>
          <a:xfrm>
            <a:off x="5993891" y="2125395"/>
            <a:ext cx="1139546" cy="591084"/>
            <a:chOff x="5993891" y="2125395"/>
            <a:chExt cx="1139546" cy="591084"/>
          </a:xfrm>
        </p:grpSpPr>
        <p:sp>
          <p:nvSpPr>
            <p:cNvPr id="481" name="Google Shape;481;p50"/>
            <p:cNvSpPr/>
            <p:nvPr/>
          </p:nvSpPr>
          <p:spPr>
            <a:xfrm>
              <a:off x="5993891" y="2125395"/>
              <a:ext cx="823594" cy="168910"/>
            </a:xfrm>
            <a:custGeom>
              <a:avLst/>
              <a:gdLst/>
              <a:ahLst/>
              <a:cxnLst/>
              <a:rect l="l" t="t" r="r" b="b"/>
              <a:pathLst>
                <a:path w="823595" h="168910" extrusionOk="0">
                  <a:moveTo>
                    <a:pt x="0" y="0"/>
                  </a:moveTo>
                  <a:lnTo>
                    <a:pt x="0" y="84406"/>
                  </a:lnTo>
                  <a:lnTo>
                    <a:pt x="822975" y="84406"/>
                  </a:lnTo>
                  <a:lnTo>
                    <a:pt x="822975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2" name="Google Shape;482;p50"/>
            <p:cNvSpPr/>
            <p:nvPr/>
          </p:nvSpPr>
          <p:spPr>
            <a:xfrm>
              <a:off x="6500342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6" y="3316"/>
                  </a:lnTo>
                  <a:lnTo>
                    <a:pt x="12361" y="12361"/>
                  </a:lnTo>
                  <a:lnTo>
                    <a:pt x="3316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6" y="396269"/>
                  </a:lnTo>
                  <a:lnTo>
                    <a:pt x="12361" y="409684"/>
                  </a:lnTo>
                  <a:lnTo>
                    <a:pt x="25776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3" name="Google Shape;483;p50"/>
            <p:cNvSpPr/>
            <p:nvPr/>
          </p:nvSpPr>
          <p:spPr>
            <a:xfrm>
              <a:off x="6500342" y="2294204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4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3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4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2"/>
                  </a:lnTo>
                  <a:lnTo>
                    <a:pt x="590854" y="422038"/>
                  </a:lnTo>
                  <a:lnTo>
                    <a:pt x="42203" y="422038"/>
                  </a:lnTo>
                  <a:lnTo>
                    <a:pt x="25776" y="418722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4"/>
                  </a:lnTo>
                  <a:close/>
                </a:path>
              </a:pathLst>
            </a:custGeom>
            <a:noFill/>
            <a:ln w="25375" cap="flat" cmpd="sng">
              <a:solidFill>
                <a:srgbClr val="FF2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84" name="Google Shape;484;p50"/>
          <p:cNvSpPr txBox="1"/>
          <p:nvPr/>
        </p:nvSpPr>
        <p:spPr>
          <a:xfrm>
            <a:off x="6692544" y="2401722"/>
            <a:ext cx="287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(0,3)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85" name="Google Shape;485;p50"/>
          <p:cNvGrpSpPr/>
          <p:nvPr/>
        </p:nvGrpSpPr>
        <p:grpSpPr>
          <a:xfrm>
            <a:off x="6405384" y="1534540"/>
            <a:ext cx="728053" cy="591084"/>
            <a:chOff x="6405384" y="1534540"/>
            <a:chExt cx="728053" cy="591084"/>
          </a:xfrm>
        </p:grpSpPr>
        <p:sp>
          <p:nvSpPr>
            <p:cNvPr id="486" name="Google Shape;486;p50"/>
            <p:cNvSpPr/>
            <p:nvPr/>
          </p:nvSpPr>
          <p:spPr>
            <a:xfrm>
              <a:off x="6405384" y="1534540"/>
              <a:ext cx="412115" cy="168910"/>
            </a:xfrm>
            <a:custGeom>
              <a:avLst/>
              <a:gdLst/>
              <a:ahLst/>
              <a:cxnLst/>
              <a:rect l="l" t="t" r="r" b="b"/>
              <a:pathLst>
                <a:path w="412115" h="168910" extrusionOk="0">
                  <a:moveTo>
                    <a:pt x="0" y="0"/>
                  </a:moveTo>
                  <a:lnTo>
                    <a:pt x="0" y="84406"/>
                  </a:lnTo>
                  <a:lnTo>
                    <a:pt x="411487" y="84406"/>
                  </a:lnTo>
                  <a:lnTo>
                    <a:pt x="411487" y="168814"/>
                  </a:lnTo>
                </a:path>
              </a:pathLst>
            </a:custGeom>
            <a:noFill/>
            <a:ln w="25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7" name="Google Shape;487;p50"/>
            <p:cNvSpPr/>
            <p:nvPr/>
          </p:nvSpPr>
          <p:spPr>
            <a:xfrm>
              <a:off x="6500342" y="170334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590854" y="0"/>
                  </a:moveTo>
                  <a:lnTo>
                    <a:pt x="42202" y="0"/>
                  </a:lnTo>
                  <a:lnTo>
                    <a:pt x="25776" y="3316"/>
                  </a:lnTo>
                  <a:lnTo>
                    <a:pt x="12361" y="12361"/>
                  </a:lnTo>
                  <a:lnTo>
                    <a:pt x="3316" y="25776"/>
                  </a:lnTo>
                  <a:lnTo>
                    <a:pt x="0" y="42202"/>
                  </a:lnTo>
                  <a:lnTo>
                    <a:pt x="0" y="379844"/>
                  </a:lnTo>
                  <a:lnTo>
                    <a:pt x="3316" y="396269"/>
                  </a:lnTo>
                  <a:lnTo>
                    <a:pt x="12361" y="409684"/>
                  </a:lnTo>
                  <a:lnTo>
                    <a:pt x="25776" y="418729"/>
                  </a:lnTo>
                  <a:lnTo>
                    <a:pt x="42202" y="422046"/>
                  </a:lnTo>
                  <a:lnTo>
                    <a:pt x="590854" y="422046"/>
                  </a:lnTo>
                  <a:lnTo>
                    <a:pt x="607280" y="418729"/>
                  </a:lnTo>
                  <a:lnTo>
                    <a:pt x="620695" y="409684"/>
                  </a:lnTo>
                  <a:lnTo>
                    <a:pt x="629740" y="396269"/>
                  </a:lnTo>
                  <a:lnTo>
                    <a:pt x="633056" y="379844"/>
                  </a:lnTo>
                  <a:lnTo>
                    <a:pt x="633056" y="42202"/>
                  </a:lnTo>
                  <a:lnTo>
                    <a:pt x="629740" y="25776"/>
                  </a:lnTo>
                  <a:lnTo>
                    <a:pt x="620695" y="12361"/>
                  </a:lnTo>
                  <a:lnTo>
                    <a:pt x="607280" y="3316"/>
                  </a:lnTo>
                  <a:lnTo>
                    <a:pt x="590854" y="0"/>
                  </a:lnTo>
                  <a:close/>
                </a:path>
              </a:pathLst>
            </a:custGeom>
            <a:solidFill>
              <a:srgbClr val="BBDA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8" name="Google Shape;488;p50"/>
            <p:cNvSpPr/>
            <p:nvPr/>
          </p:nvSpPr>
          <p:spPr>
            <a:xfrm>
              <a:off x="6500342" y="1703349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 extrusionOk="0">
                  <a:moveTo>
                    <a:pt x="0" y="42203"/>
                  </a:moveTo>
                  <a:lnTo>
                    <a:pt x="3316" y="25776"/>
                  </a:lnTo>
                  <a:lnTo>
                    <a:pt x="12361" y="12361"/>
                  </a:lnTo>
                  <a:lnTo>
                    <a:pt x="25776" y="3316"/>
                  </a:lnTo>
                  <a:lnTo>
                    <a:pt x="42203" y="0"/>
                  </a:lnTo>
                  <a:lnTo>
                    <a:pt x="590854" y="0"/>
                  </a:lnTo>
                  <a:lnTo>
                    <a:pt x="607282" y="3316"/>
                  </a:lnTo>
                  <a:lnTo>
                    <a:pt x="620697" y="12361"/>
                  </a:lnTo>
                  <a:lnTo>
                    <a:pt x="629742" y="25776"/>
                  </a:lnTo>
                  <a:lnTo>
                    <a:pt x="633058" y="42203"/>
                  </a:lnTo>
                  <a:lnTo>
                    <a:pt x="633058" y="379834"/>
                  </a:lnTo>
                  <a:lnTo>
                    <a:pt x="629742" y="396262"/>
                  </a:lnTo>
                  <a:lnTo>
                    <a:pt x="620697" y="409677"/>
                  </a:lnTo>
                  <a:lnTo>
                    <a:pt x="607282" y="418721"/>
                  </a:lnTo>
                  <a:lnTo>
                    <a:pt x="590854" y="422038"/>
                  </a:lnTo>
                  <a:lnTo>
                    <a:pt x="42203" y="422038"/>
                  </a:lnTo>
                  <a:lnTo>
                    <a:pt x="25776" y="418721"/>
                  </a:lnTo>
                  <a:lnTo>
                    <a:pt x="12361" y="409677"/>
                  </a:lnTo>
                  <a:lnTo>
                    <a:pt x="3316" y="396262"/>
                  </a:lnTo>
                  <a:lnTo>
                    <a:pt x="0" y="379834"/>
                  </a:lnTo>
                  <a:lnTo>
                    <a:pt x="0" y="42203"/>
                  </a:lnTo>
                  <a:close/>
                </a:path>
              </a:pathLst>
            </a:custGeom>
            <a:noFill/>
            <a:ln w="25375" cap="flat" cmpd="sng">
              <a:solidFill>
                <a:srgbClr val="FF2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89" name="Google Shape;489;p50"/>
          <p:cNvSpPr txBox="1"/>
          <p:nvPr/>
        </p:nvSpPr>
        <p:spPr>
          <a:xfrm>
            <a:off x="6692544" y="1810867"/>
            <a:ext cx="287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(0,4)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5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491" name="Google Shape;491;p5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492" name="Google Shape;492;p50"/>
          <p:cNvSpPr txBox="1"/>
          <p:nvPr/>
        </p:nvSpPr>
        <p:spPr>
          <a:xfrm>
            <a:off x="535940" y="3868420"/>
            <a:ext cx="66816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08915" lvl="0" indent="-1835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Proxima Nova"/>
              <a:buChar char="▪"/>
            </a:pPr>
            <a:r>
              <a:rPr lang="en-US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Red </a:t>
            </a:r>
            <a:r>
              <a:rPr lang="en-US" sz="1800">
                <a:solidFill>
                  <a:srgbClr val="003366"/>
                </a:solidFill>
                <a:latin typeface="Proxima Nova"/>
                <a:ea typeface="Proxima Nova"/>
                <a:cs typeface="Proxima Nova"/>
                <a:sym typeface="Proxima Nova"/>
              </a:rPr>
              <a:t>nodes are backtrack points (these nodes remain on OPEN).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3" name="Google Shape;493;p5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Depth-­First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Depth-­First Properties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9" name="Google Shape;499;p5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00" name="Google Shape;500;p5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01" name="Google Shape;501;p51"/>
          <p:cNvSpPr txBox="1"/>
          <p:nvPr/>
        </p:nvSpPr>
        <p:spPr>
          <a:xfrm>
            <a:off x="573591" y="945900"/>
            <a:ext cx="7996800" cy="41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Proxima Nova"/>
                <a:ea typeface="Proxima Nova"/>
                <a:cs typeface="Proxima Nova"/>
                <a:sym typeface="Proxima Nova"/>
              </a:rPr>
              <a:t>Completeness?</a:t>
            </a:r>
            <a:endParaRPr sz="25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1815" lvl="0" indent="-26670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3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Infinite paths - tree-search vs graph-search strategies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200" b="1">
                <a:latin typeface="Proxima Nova"/>
                <a:ea typeface="Proxima Nova"/>
                <a:cs typeface="Proxima Nova"/>
                <a:sym typeface="Proxima Nova"/>
              </a:rPr>
              <a:t>Optimality?</a:t>
            </a: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51815" lvl="0" indent="-266700" algn="l" rtl="0">
              <a:spcBef>
                <a:spcPts val="51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oxima Nova"/>
              <a:buChar char="•"/>
            </a:pPr>
            <a:r>
              <a:rPr lang="en-U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 guaranteed ~ BFS</a:t>
            </a: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200" b="1">
                <a:latin typeface="Proxima Nova"/>
                <a:ea typeface="Proxima Nova"/>
                <a:cs typeface="Proxima Nova"/>
                <a:sym typeface="Proxima Nova"/>
              </a:rPr>
              <a:t>Time &amp; space requirements?</a:t>
            </a:r>
            <a:endParaRPr sz="22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lvl="0" indent="-24765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Compare with BFS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100" b="1">
                <a:latin typeface="Proxima Nova"/>
                <a:ea typeface="Proxima Nova"/>
                <a:cs typeface="Proxima Nova"/>
                <a:sym typeface="Proxima Nova"/>
              </a:rPr>
              <a:t>Backtracking-support a natural consequence of the algorithm</a:t>
            </a:r>
            <a:endParaRPr sz="21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4"/>
          <p:cNvSpPr txBox="1">
            <a:spLocks noGrp="1"/>
          </p:cNvSpPr>
          <p:nvPr>
            <p:ph type="title"/>
          </p:nvPr>
        </p:nvSpPr>
        <p:spPr>
          <a:xfrm>
            <a:off x="1729499" y="3076200"/>
            <a:ext cx="56850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Proxima Nova"/>
                <a:ea typeface="Proxima Nova"/>
                <a:cs typeface="Proxima Nova"/>
                <a:sym typeface="Proxima Nova"/>
              </a:rPr>
              <a:t>Depth-­Limited Search</a:t>
            </a:r>
            <a:endParaRPr sz="4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7" name="Google Shape;507;p5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08" name="Google Shape;508;p5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Depth-Limited Search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4" name="Google Shape;514;p5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15" name="Google Shape;515;p5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16" name="Google Shape;516;p55"/>
          <p:cNvSpPr txBox="1"/>
          <p:nvPr/>
        </p:nvSpPr>
        <p:spPr>
          <a:xfrm>
            <a:off x="468012" y="1068070"/>
            <a:ext cx="8208000" cy="44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279400" marR="508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Breadth-first has space-optimization issues. 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Depth-first can run along down a very long (~ infinite) path.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•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BFS and DFS prone to combinatorial explosion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None/>
            </a:pP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latin typeface="Proxima Nova"/>
                <a:ea typeface="Proxima Nova"/>
                <a:cs typeface="Proxima Nova"/>
                <a:sym typeface="Proxima Nova"/>
              </a:rPr>
              <a:t>Depth-limited search</a:t>
            </a:r>
            <a:endParaRPr sz="23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29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Perform depth first search </a:t>
            </a:r>
            <a:r>
              <a:rPr lang="en-US" sz="1700" dirty="0" err="1">
                <a:latin typeface="Proxima Nova"/>
                <a:ea typeface="Proxima Nova"/>
                <a:cs typeface="Proxima Nova"/>
                <a:sym typeface="Proxima Nova"/>
              </a:rPr>
              <a:t>upto</a:t>
            </a: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 a pre-­specified depth limit (or diameter) D.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820419" lvl="2" indent="-24257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700"/>
              <a:buFont typeface="Proxima Nova"/>
              <a:buChar char="•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Assumptions: ROOT is at DEPTH 0 &amp; ROOT is a path of length 1.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No node representing a path of length more than D+1 is placed on OPEN.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“Truncate” search by expanding paths of length D+1 or less.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Infinite-path length somewhat handled.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Failure points: No solution / No solution within depth limits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latin typeface="Proxima Nova"/>
                <a:ea typeface="Proxima Nova"/>
                <a:cs typeface="Proxima Nova"/>
                <a:sym typeface="Proxima Nova"/>
              </a:rPr>
              <a:t>Finds use in resource-constrained environments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 sz="1700" dirty="0">
                <a:solidFill>
                  <a:srgbClr val="FC0128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 found only if such exists at DEPTH ≤ D.</a:t>
            </a:r>
            <a:endParaRPr sz="17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Depth-Limited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22" name="Google Shape;52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1752600"/>
            <a:ext cx="74866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524" name="Google Shape;524;p5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 txBox="1">
            <a:spLocks noGrp="1"/>
          </p:cNvSpPr>
          <p:nvPr>
            <p:ph type="title"/>
          </p:nvPr>
        </p:nvSpPr>
        <p:spPr>
          <a:xfrm>
            <a:off x="990601" y="3076200"/>
            <a:ext cx="71628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Proxima Nova"/>
                <a:ea typeface="Proxima Nova"/>
                <a:cs typeface="Proxima Nova"/>
                <a:sym typeface="Proxima Nova"/>
              </a:rPr>
              <a:t>Iterative Deepening Search</a:t>
            </a:r>
            <a:endParaRPr sz="4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0" name="Google Shape;530;p5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31" name="Google Shape;531;p5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Iterative Deepening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7" name="Google Shape;537;p5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538" name="Google Shape;538;p5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39" name="Google Shape;539;p59"/>
          <p:cNvSpPr txBox="1"/>
          <p:nvPr/>
        </p:nvSpPr>
        <p:spPr>
          <a:xfrm>
            <a:off x="306374" y="1098550"/>
            <a:ext cx="8695500" cy="4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79400" marR="305435" lvl="0" indent="-222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Executes DFS within a defined "depth limit" and iteratively elevates this limit until the goal node is successfully located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305435" lvl="0" indent="-222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Combines BFS and DFS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305435" lvl="0" indent="-222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Preferred uninformed search method when the search space is large and the depth of the solution is not known.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86995" lvl="0" indent="-222250" algn="just" rtl="0">
              <a:lnSpc>
                <a:spcPct val="115000"/>
              </a:lnSpc>
              <a:spcBef>
                <a:spcPts val="605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Starting at depth limit D = 0, iteratively increase D, while performing a depth limited search for each D.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22250" algn="l" rtl="0">
              <a:lnSpc>
                <a:spcPct val="115000"/>
              </a:lnSpc>
              <a:spcBef>
                <a:spcPts val="610"/>
              </a:spcBef>
              <a:spcAft>
                <a:spcPts val="0"/>
              </a:spcAft>
              <a:buSzPts val="2100"/>
              <a:buFont typeface="Proxima Nova"/>
              <a:buChar char="•"/>
            </a:pPr>
            <a:r>
              <a:rPr lang="en-US" sz="2100">
                <a:latin typeface="Proxima Nova"/>
                <a:ea typeface="Proxima Nova"/>
                <a:cs typeface="Proxima Nova"/>
                <a:sym typeface="Proxima Nova"/>
              </a:rPr>
              <a:t>Stop if a solution is found, or if the depth limited search failed without pruning nodes because of the depth limit.</a:t>
            </a:r>
            <a:endParaRPr sz="2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5080" lvl="1" indent="-368300" algn="l" rtl="0">
              <a:lnSpc>
                <a:spcPct val="115000"/>
              </a:lnSpc>
              <a:spcBef>
                <a:spcPts val="610"/>
              </a:spcBef>
              <a:spcAft>
                <a:spcPts val="0"/>
              </a:spcAft>
              <a:buSzPts val="2200"/>
              <a:buFont typeface="Proxima Nova"/>
              <a:buChar char="•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If no nodes were pruned and the search examined all paths in the state space and found no solution → no solution exists.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bc61c32da_4_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Iterative Deepening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5" name="Google Shape;545;g3bbc61c32da_4_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546" name="Google Shape;546;g3bbc61c32da_4_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pic>
        <p:nvPicPr>
          <p:cNvPr id="547" name="Google Shape;547;g3bbc61c32da_4_1" title="Screenshot 2026-01-24 at 6.39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613" y="872938"/>
            <a:ext cx="7728775" cy="55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Iterative Deepening Search Properties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3" name="Google Shape;553;p6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54" name="Google Shape;554;p6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55" name="Google Shape;555;p64"/>
          <p:cNvSpPr txBox="1"/>
          <p:nvPr/>
        </p:nvSpPr>
        <p:spPr>
          <a:xfrm>
            <a:off x="306387" y="1022095"/>
            <a:ext cx="6572400" cy="26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Completeness?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Time Complexity?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Space Complexity?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Optimality?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bc61c32da_4_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Food for Thought - III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1" name="Google Shape;561;g3bbc61c32da_4_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3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562" name="Google Shape;562;g3bbc61c32da_4_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63" name="Google Shape;563;g3bbc61c32da_4_9"/>
          <p:cNvSpPr txBox="1"/>
          <p:nvPr/>
        </p:nvSpPr>
        <p:spPr>
          <a:xfrm>
            <a:off x="114450" y="1108475"/>
            <a:ext cx="8915100" cy="30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0" marR="5417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Try applying DFS, IDS, DLS algorithms to the search space formalizations you designed for the situations in Slide 24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0580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1132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 between the outcomes in terms of space &amp; time requirements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1132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111323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How would you incorporate path / cycle checking in the solution strategies?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830580" lvl="0" indent="0" algn="l" rtl="0">
              <a:lnSpc>
                <a:spcPct val="118892"/>
              </a:lnSpc>
              <a:spcBef>
                <a:spcPts val="735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5"/>
          <p:cNvSpPr txBox="1">
            <a:spLocks noGrp="1"/>
          </p:cNvSpPr>
          <p:nvPr>
            <p:ph type="title"/>
          </p:nvPr>
        </p:nvSpPr>
        <p:spPr>
          <a:xfrm>
            <a:off x="2389200" y="2721900"/>
            <a:ext cx="4365600" cy="14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12700" marR="5080" lvl="0" indent="0" algn="ctr" rtl="0">
              <a:lnSpc>
                <a:spcPct val="11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latin typeface="Proxima Nova"/>
                <a:ea typeface="Proxima Nova"/>
                <a:cs typeface="Proxima Nova"/>
                <a:sym typeface="Proxima Nova"/>
              </a:rPr>
              <a:t>Heuristic Search (Informed Search)</a:t>
            </a:r>
            <a:endParaRPr sz="4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9" name="Google Shape;569;p7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570" name="Google Shape;570;p7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6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7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roxima Nova"/>
                <a:ea typeface="Proxima Nova"/>
                <a:cs typeface="Proxima Nova"/>
                <a:sym typeface="Proxima Nova"/>
              </a:rPr>
              <a:t>Heuristic Search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6" name="Google Shape;576;p7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577" name="Google Shape;577;p7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78" name="Google Shape;578;p76"/>
          <p:cNvSpPr txBox="1"/>
          <p:nvPr/>
        </p:nvSpPr>
        <p:spPr>
          <a:xfrm>
            <a:off x="188575" y="1138225"/>
            <a:ext cx="8823000" cy="4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79400" marR="149860" lvl="0" indent="-247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 b="1" dirty="0">
                <a:latin typeface="Proxima Nova"/>
                <a:ea typeface="Proxima Nova"/>
                <a:cs typeface="Proxima Nova"/>
                <a:sym typeface="Proxima Nova"/>
              </a:rPr>
              <a:t>Uninformed search</a:t>
            </a:r>
            <a:r>
              <a:rPr lang="en-US" sz="2500" dirty="0">
                <a:latin typeface="Proxima Nova"/>
                <a:ea typeface="Proxima Nova"/>
                <a:cs typeface="Proxima Nova"/>
                <a:sym typeface="Proxima Nova"/>
              </a:rPr>
              <a:t> - no evaluation of which nodes in OPEN are most promising; “look‐ahead” to the goal not done.</a:t>
            </a:r>
            <a:endParaRPr sz="25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60400" marR="121920" lvl="0" indent="-33019" algn="just" rtl="0">
              <a:lnSpc>
                <a:spcPct val="115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2100" dirty="0">
                <a:latin typeface="Proxima Nova"/>
                <a:ea typeface="Proxima Nova"/>
                <a:cs typeface="Proxima Nova"/>
                <a:sym typeface="Proxima Nova"/>
              </a:rPr>
              <a:t>E.g., UCS → Always expand the cheapest path, without assessing the cost of getting to the goal from the end of the current path.</a:t>
            </a: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85"/>
              </a:spcBef>
              <a:spcAft>
                <a:spcPts val="0"/>
              </a:spcAft>
              <a:buNone/>
            </a:pP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279400" marR="5080" lvl="0" indent="-247650" algn="just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SzPts val="2500"/>
              <a:buFont typeface="Proxima Nova"/>
              <a:buChar char="•"/>
            </a:pPr>
            <a:r>
              <a:rPr lang="en-US" sz="2500" dirty="0">
                <a:latin typeface="Proxima Nova"/>
                <a:ea typeface="Proxima Nova"/>
                <a:cs typeface="Proxima Nova"/>
                <a:sym typeface="Proxima Nova"/>
              </a:rPr>
              <a:t>Often we possess knowledge about the “merit” of nodes:</a:t>
            </a:r>
            <a:endParaRPr sz="25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5080" lvl="1" indent="-361950" algn="just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SzPts val="2100"/>
              <a:buFont typeface="Proxima Nova"/>
              <a:buChar char="○"/>
            </a:pPr>
            <a:r>
              <a:rPr lang="en-US" sz="2100" dirty="0"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lang="en-US" sz="2100" b="1" dirty="0">
                <a:latin typeface="Proxima Nova"/>
                <a:ea typeface="Proxima Nova"/>
                <a:cs typeface="Proxima Nova"/>
                <a:sym typeface="Proxima Nova"/>
              </a:rPr>
              <a:t>cost</a:t>
            </a:r>
            <a:r>
              <a:rPr lang="en-US" sz="2100" dirty="0">
                <a:latin typeface="Proxima Nova"/>
                <a:ea typeface="Proxima Nova"/>
                <a:cs typeface="Proxima Nova"/>
                <a:sym typeface="Proxima Nova"/>
              </a:rPr>
              <a:t> of the solution, we might want to consider how costly it is to get to the goal from a node.</a:t>
            </a: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5080" lvl="1" indent="-361950" algn="just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SzPts val="2100"/>
              <a:buFont typeface="Proxima Nova"/>
              <a:buChar char="○"/>
            </a:pPr>
            <a:r>
              <a:rPr lang="en-US" sz="2100" dirty="0"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lang="en-US" sz="2100" b="1" dirty="0">
                <a:latin typeface="Proxima Nova"/>
                <a:ea typeface="Proxima Nova"/>
                <a:cs typeface="Proxima Nova"/>
                <a:sym typeface="Proxima Nova"/>
              </a:rPr>
              <a:t>minimizing computation</a:t>
            </a:r>
            <a:r>
              <a:rPr lang="en-US" sz="2100" dirty="0">
                <a:latin typeface="Proxima Nova"/>
                <a:ea typeface="Proxima Nova"/>
                <a:cs typeface="Proxima Nova"/>
                <a:sym typeface="Proxima Nova"/>
              </a:rPr>
              <a:t>, we might want to consider how easy it is to find the goal from a node.</a:t>
            </a: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Heuristic Search</a:t>
            </a:r>
            <a:endParaRPr sz="3400"/>
          </a:p>
        </p:txBody>
      </p:sp>
      <p:sp>
        <p:nvSpPr>
          <p:cNvPr id="584" name="Google Shape;584;p7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585" name="Google Shape;585;p7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86" name="Google Shape;586;p77"/>
          <p:cNvSpPr txBox="1"/>
          <p:nvPr/>
        </p:nvSpPr>
        <p:spPr>
          <a:xfrm>
            <a:off x="382587" y="946150"/>
            <a:ext cx="7958455" cy="508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71628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Merit of an OPEN node: different notions of merit.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21665" marR="5080" lvl="0" indent="-266700" algn="l" rtl="0">
              <a:lnSpc>
                <a:spcPct val="100099"/>
              </a:lnSpc>
              <a:spcBef>
                <a:spcPts val="505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If we are concerned about the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cost of the solution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 we might want to consider how costly it is to get to the goal from the terminal state of that node.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21665" marR="151765" lvl="0" indent="-266700" algn="l" rtl="0">
              <a:lnSpc>
                <a:spcPct val="99500"/>
              </a:lnSpc>
              <a:spcBef>
                <a:spcPts val="73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If we are concerned about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minimizing computation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 search we might want to consider how easy it is to find the goal from the terminal state of that node.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21665" marR="316865" lvl="0" indent="-266700" algn="l" rtl="0">
              <a:lnSpc>
                <a:spcPct val="118892"/>
              </a:lnSpc>
              <a:spcBef>
                <a:spcPts val="84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We will focus on the </a:t>
            </a:r>
            <a:r>
              <a:rPr lang="en-US" sz="280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cost of solution</a:t>
            </a:r>
            <a:r>
              <a:rPr lang="en-US" sz="2800">
                <a:latin typeface="MS PGothic"/>
                <a:ea typeface="MS PGothic"/>
                <a:cs typeface="MS PGothic"/>
                <a:sym typeface="MS PGothic"/>
              </a:rPr>
              <a:t>”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notion of merit.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Heuristic Search</a:t>
            </a:r>
            <a:endParaRPr sz="3400"/>
          </a:p>
        </p:txBody>
      </p:sp>
      <p:sp>
        <p:nvSpPr>
          <p:cNvPr id="592" name="Google Shape;592;p7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593" name="Google Shape;593;p7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594" name="Google Shape;594;p78"/>
          <p:cNvSpPr txBox="1"/>
          <p:nvPr/>
        </p:nvSpPr>
        <p:spPr>
          <a:xfrm>
            <a:off x="306387" y="1098550"/>
            <a:ext cx="8503285" cy="46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79400" marR="1149350" lvl="0" indent="-26670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The idea is to develop a domain specific heuristic function h(n).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2800"/>
              <a:buFont typeface="Calibri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79400" marR="157480" lvl="0" indent="-266700" algn="just" rtl="0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h(n)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guesses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cost of getting to the goal from node n (i.e., from the terminal state of the path represented by n).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SzPts val="2800"/>
              <a:buFont typeface="Calibri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79400" marR="5080" lvl="0" indent="-266700" algn="l" rtl="0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There are different ways of guessing this cost in different domains.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552450" lvl="1" indent="-27305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heuristics are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domain specific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46" y="1228725"/>
            <a:ext cx="7608944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79"/>
          <p:cNvSpPr txBox="1"/>
          <p:nvPr/>
        </p:nvSpPr>
        <p:spPr>
          <a:xfrm>
            <a:off x="512842" y="5434012"/>
            <a:ext cx="8044180" cy="84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5080" lvl="0" indent="0" algn="ctr" rtl="0">
              <a:lnSpc>
                <a:spcPct val="9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Planning a path from Arad to Bucharest, we can utilize the </a:t>
            </a:r>
            <a:r>
              <a:rPr lang="en-US" sz="1800">
                <a:solidFill>
                  <a:srgbClr val="FC0128"/>
                </a:solidFill>
                <a:latin typeface="Arial"/>
                <a:ea typeface="Arial"/>
                <a:cs typeface="Arial"/>
                <a:sym typeface="Arial"/>
              </a:rPr>
              <a:t>straight line distance from each city to our goal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 This lets us plan our trip by picking cities at each time point that minimize the distance to our goal.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7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602" name="Google Shape;602;p7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03" name="Google Shape;603;p7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Example: Euclidean distance</a:t>
            </a:r>
            <a:endParaRPr sz="3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Heuristic Search</a:t>
            </a:r>
            <a:endParaRPr sz="3400"/>
          </a:p>
        </p:txBody>
      </p:sp>
      <p:sp>
        <p:nvSpPr>
          <p:cNvPr id="609" name="Google Shape;609;p8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610" name="Google Shape;610;p8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11" name="Google Shape;611;p80"/>
          <p:cNvSpPr txBox="1"/>
          <p:nvPr/>
        </p:nvSpPr>
        <p:spPr>
          <a:xfrm>
            <a:off x="268287" y="1098550"/>
            <a:ext cx="8571865" cy="31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317500" marR="1229995" lvl="0" indent="-26670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If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</a:t>
            </a:r>
            <a:r>
              <a:rPr lang="en-US" sz="2775" baseline="-2500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) &lt; h(n</a:t>
            </a:r>
            <a:r>
              <a:rPr lang="en-US" sz="2775" baseline="-2500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this means that we guess that it is cheaper to get to the goal from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775" baseline="-2500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than from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775" baseline="-2500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SzPts val="2800"/>
              <a:buFont typeface="Calibri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19405" lvl="0" indent="-26860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 require that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590550" lvl="1" indent="-27305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h(n) = 0 for every node n whose terminal state satisfies the goal.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83565" marR="204470" lvl="1" indent="-266700" algn="l" rtl="0">
              <a:lnSpc>
                <a:spcPct val="117499"/>
              </a:lnSpc>
              <a:spcBef>
                <a:spcPts val="76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Zero cost of achieving the goal from node that already satisfies the goal.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only h(n): Greedy best-­‐first search</a:t>
            </a:r>
            <a:endParaRPr/>
          </a:p>
        </p:txBody>
      </p:sp>
      <p:grpSp>
        <p:nvGrpSpPr>
          <p:cNvPr id="617" name="Google Shape;617;p81"/>
          <p:cNvGrpSpPr/>
          <p:nvPr/>
        </p:nvGrpSpPr>
        <p:grpSpPr>
          <a:xfrm>
            <a:off x="5364162" y="3860800"/>
            <a:ext cx="792480" cy="504825"/>
            <a:chOff x="5364162" y="3860800"/>
            <a:chExt cx="792480" cy="504825"/>
          </a:xfrm>
        </p:grpSpPr>
        <p:sp>
          <p:nvSpPr>
            <p:cNvPr id="618" name="Google Shape;618;p81"/>
            <p:cNvSpPr/>
            <p:nvPr/>
          </p:nvSpPr>
          <p:spPr>
            <a:xfrm>
              <a:off x="5364162" y="3860800"/>
              <a:ext cx="792480" cy="504825"/>
            </a:xfrm>
            <a:custGeom>
              <a:avLst/>
              <a:gdLst/>
              <a:ahLst/>
              <a:cxnLst/>
              <a:rect l="l" t="t" r="r" b="b"/>
              <a:pathLst>
                <a:path w="792479" h="504825" extrusionOk="0">
                  <a:moveTo>
                    <a:pt x="396074" y="0"/>
                  </a:moveTo>
                  <a:lnTo>
                    <a:pt x="337546" y="2736"/>
                  </a:lnTo>
                  <a:lnTo>
                    <a:pt x="281683" y="10686"/>
                  </a:lnTo>
                  <a:lnTo>
                    <a:pt x="229100" y="23459"/>
                  </a:lnTo>
                  <a:lnTo>
                    <a:pt x="180408" y="40664"/>
                  </a:lnTo>
                  <a:lnTo>
                    <a:pt x="136221" y="61911"/>
                  </a:lnTo>
                  <a:lnTo>
                    <a:pt x="97150" y="86809"/>
                  </a:lnTo>
                  <a:lnTo>
                    <a:pt x="63810" y="114969"/>
                  </a:lnTo>
                  <a:lnTo>
                    <a:pt x="36812" y="145999"/>
                  </a:lnTo>
                  <a:lnTo>
                    <a:pt x="16769" y="179510"/>
                  </a:lnTo>
                  <a:lnTo>
                    <a:pt x="0" y="252412"/>
                  </a:lnTo>
                  <a:lnTo>
                    <a:pt x="4294" y="289713"/>
                  </a:lnTo>
                  <a:lnTo>
                    <a:pt x="36812" y="358825"/>
                  </a:lnTo>
                  <a:lnTo>
                    <a:pt x="63810" y="389855"/>
                  </a:lnTo>
                  <a:lnTo>
                    <a:pt x="97150" y="418015"/>
                  </a:lnTo>
                  <a:lnTo>
                    <a:pt x="136221" y="442913"/>
                  </a:lnTo>
                  <a:lnTo>
                    <a:pt x="180408" y="464160"/>
                  </a:lnTo>
                  <a:lnTo>
                    <a:pt x="229100" y="481365"/>
                  </a:lnTo>
                  <a:lnTo>
                    <a:pt x="281683" y="494138"/>
                  </a:lnTo>
                  <a:lnTo>
                    <a:pt x="337546" y="502088"/>
                  </a:lnTo>
                  <a:lnTo>
                    <a:pt x="396074" y="504825"/>
                  </a:lnTo>
                  <a:lnTo>
                    <a:pt x="454606" y="502088"/>
                  </a:lnTo>
                  <a:lnTo>
                    <a:pt x="510471" y="494138"/>
                  </a:lnTo>
                  <a:lnTo>
                    <a:pt x="563057" y="481365"/>
                  </a:lnTo>
                  <a:lnTo>
                    <a:pt x="611750" y="464160"/>
                  </a:lnTo>
                  <a:lnTo>
                    <a:pt x="655939" y="442913"/>
                  </a:lnTo>
                  <a:lnTo>
                    <a:pt x="695010" y="418015"/>
                  </a:lnTo>
                  <a:lnTo>
                    <a:pt x="728351" y="389855"/>
                  </a:lnTo>
                  <a:lnTo>
                    <a:pt x="755349" y="358825"/>
                  </a:lnTo>
                  <a:lnTo>
                    <a:pt x="775392" y="325314"/>
                  </a:lnTo>
                  <a:lnTo>
                    <a:pt x="792162" y="252412"/>
                  </a:lnTo>
                  <a:lnTo>
                    <a:pt x="787867" y="215111"/>
                  </a:lnTo>
                  <a:lnTo>
                    <a:pt x="755349" y="145999"/>
                  </a:lnTo>
                  <a:lnTo>
                    <a:pt x="728351" y="114969"/>
                  </a:lnTo>
                  <a:lnTo>
                    <a:pt x="695010" y="86809"/>
                  </a:lnTo>
                  <a:lnTo>
                    <a:pt x="655939" y="61911"/>
                  </a:lnTo>
                  <a:lnTo>
                    <a:pt x="611750" y="40664"/>
                  </a:lnTo>
                  <a:lnTo>
                    <a:pt x="563057" y="23459"/>
                  </a:lnTo>
                  <a:lnTo>
                    <a:pt x="510471" y="10686"/>
                  </a:lnTo>
                  <a:lnTo>
                    <a:pt x="454606" y="2736"/>
                  </a:lnTo>
                  <a:lnTo>
                    <a:pt x="396074" y="0"/>
                  </a:lnTo>
                  <a:close/>
                </a:path>
              </a:pathLst>
            </a:custGeom>
            <a:solidFill>
              <a:srgbClr val="73A4F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1"/>
            <p:cNvSpPr/>
            <p:nvPr/>
          </p:nvSpPr>
          <p:spPr>
            <a:xfrm>
              <a:off x="5364162" y="3860800"/>
              <a:ext cx="792480" cy="504825"/>
            </a:xfrm>
            <a:custGeom>
              <a:avLst/>
              <a:gdLst/>
              <a:ahLst/>
              <a:cxnLst/>
              <a:rect l="l" t="t" r="r" b="b"/>
              <a:pathLst>
                <a:path w="792479" h="504825" extrusionOk="0">
                  <a:moveTo>
                    <a:pt x="0" y="252412"/>
                  </a:moveTo>
                  <a:lnTo>
                    <a:pt x="16769" y="179512"/>
                  </a:lnTo>
                  <a:lnTo>
                    <a:pt x="36812" y="146001"/>
                  </a:lnTo>
                  <a:lnTo>
                    <a:pt x="63810" y="114971"/>
                  </a:lnTo>
                  <a:lnTo>
                    <a:pt x="97151" y="86811"/>
                  </a:lnTo>
                  <a:lnTo>
                    <a:pt x="136222" y="61912"/>
                  </a:lnTo>
                  <a:lnTo>
                    <a:pt x="180410" y="40665"/>
                  </a:lnTo>
                  <a:lnTo>
                    <a:pt x="229103" y="23459"/>
                  </a:lnTo>
                  <a:lnTo>
                    <a:pt x="281687" y="10686"/>
                  </a:lnTo>
                  <a:lnTo>
                    <a:pt x="337550" y="2736"/>
                  </a:lnTo>
                  <a:lnTo>
                    <a:pt x="396080" y="0"/>
                  </a:lnTo>
                  <a:lnTo>
                    <a:pt x="454610" y="2736"/>
                  </a:lnTo>
                  <a:lnTo>
                    <a:pt x="510474" y="10686"/>
                  </a:lnTo>
                  <a:lnTo>
                    <a:pt x="563058" y="23459"/>
                  </a:lnTo>
                  <a:lnTo>
                    <a:pt x="611750" y="40665"/>
                  </a:lnTo>
                  <a:lnTo>
                    <a:pt x="655938" y="61912"/>
                  </a:lnTo>
                  <a:lnTo>
                    <a:pt x="695009" y="86811"/>
                  </a:lnTo>
                  <a:lnTo>
                    <a:pt x="728350" y="114971"/>
                  </a:lnTo>
                  <a:lnTo>
                    <a:pt x="755348" y="146001"/>
                  </a:lnTo>
                  <a:lnTo>
                    <a:pt x="775391" y="179512"/>
                  </a:lnTo>
                  <a:lnTo>
                    <a:pt x="792161" y="252412"/>
                  </a:lnTo>
                  <a:lnTo>
                    <a:pt x="787867" y="289712"/>
                  </a:lnTo>
                  <a:lnTo>
                    <a:pt x="755348" y="358823"/>
                  </a:lnTo>
                  <a:lnTo>
                    <a:pt x="728350" y="389854"/>
                  </a:lnTo>
                  <a:lnTo>
                    <a:pt x="695009" y="418014"/>
                  </a:lnTo>
                  <a:lnTo>
                    <a:pt x="655938" y="442913"/>
                  </a:lnTo>
                  <a:lnTo>
                    <a:pt x="611750" y="464160"/>
                  </a:lnTo>
                  <a:lnTo>
                    <a:pt x="563058" y="481365"/>
                  </a:lnTo>
                  <a:lnTo>
                    <a:pt x="510474" y="494138"/>
                  </a:lnTo>
                  <a:lnTo>
                    <a:pt x="454610" y="502088"/>
                  </a:lnTo>
                  <a:lnTo>
                    <a:pt x="396080" y="504825"/>
                  </a:lnTo>
                  <a:lnTo>
                    <a:pt x="337550" y="502088"/>
                  </a:lnTo>
                  <a:lnTo>
                    <a:pt x="281687" y="494138"/>
                  </a:lnTo>
                  <a:lnTo>
                    <a:pt x="229103" y="481365"/>
                  </a:lnTo>
                  <a:lnTo>
                    <a:pt x="180410" y="464160"/>
                  </a:lnTo>
                  <a:lnTo>
                    <a:pt x="136222" y="442913"/>
                  </a:lnTo>
                  <a:lnTo>
                    <a:pt x="97151" y="418014"/>
                  </a:lnTo>
                  <a:lnTo>
                    <a:pt x="63810" y="389854"/>
                  </a:lnTo>
                  <a:lnTo>
                    <a:pt x="36812" y="358823"/>
                  </a:lnTo>
                  <a:lnTo>
                    <a:pt x="16769" y="325313"/>
                  </a:lnTo>
                  <a:lnTo>
                    <a:pt x="0" y="25241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" name="Google Shape;620;p81"/>
          <p:cNvSpPr txBox="1"/>
          <p:nvPr/>
        </p:nvSpPr>
        <p:spPr>
          <a:xfrm>
            <a:off x="5673216" y="396335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1" name="Google Shape;621;p81"/>
          <p:cNvGrpSpPr/>
          <p:nvPr/>
        </p:nvGrpSpPr>
        <p:grpSpPr>
          <a:xfrm>
            <a:off x="4427537" y="4581524"/>
            <a:ext cx="647700" cy="503556"/>
            <a:chOff x="4427537" y="4581524"/>
            <a:chExt cx="647700" cy="503556"/>
          </a:xfrm>
        </p:grpSpPr>
        <p:sp>
          <p:nvSpPr>
            <p:cNvPr id="622" name="Google Shape;622;p81"/>
            <p:cNvSpPr/>
            <p:nvPr/>
          </p:nvSpPr>
          <p:spPr>
            <a:xfrm>
              <a:off x="4427537" y="4581524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323850" y="0"/>
                  </a:moveTo>
                  <a:lnTo>
                    <a:pt x="271320" y="3293"/>
                  </a:lnTo>
                  <a:lnTo>
                    <a:pt x="221489" y="12827"/>
                  </a:lnTo>
                  <a:lnTo>
                    <a:pt x="175023" y="28084"/>
                  </a:lnTo>
                  <a:lnTo>
                    <a:pt x="132589" y="48546"/>
                  </a:lnTo>
                  <a:lnTo>
                    <a:pt x="94854" y="73694"/>
                  </a:lnTo>
                  <a:lnTo>
                    <a:pt x="62485" y="103012"/>
                  </a:lnTo>
                  <a:lnTo>
                    <a:pt x="36148" y="135981"/>
                  </a:lnTo>
                  <a:lnTo>
                    <a:pt x="16510" y="172082"/>
                  </a:lnTo>
                  <a:lnTo>
                    <a:pt x="4238" y="210799"/>
                  </a:lnTo>
                  <a:lnTo>
                    <a:pt x="0" y="251612"/>
                  </a:lnTo>
                  <a:lnTo>
                    <a:pt x="4238" y="292429"/>
                  </a:lnTo>
                  <a:lnTo>
                    <a:pt x="16510" y="331148"/>
                  </a:lnTo>
                  <a:lnTo>
                    <a:pt x="36148" y="367251"/>
                  </a:lnTo>
                  <a:lnTo>
                    <a:pt x="62485" y="400222"/>
                  </a:lnTo>
                  <a:lnTo>
                    <a:pt x="94854" y="429540"/>
                  </a:lnTo>
                  <a:lnTo>
                    <a:pt x="132589" y="454690"/>
                  </a:lnTo>
                  <a:lnTo>
                    <a:pt x="175023" y="475152"/>
                  </a:lnTo>
                  <a:lnTo>
                    <a:pt x="221489" y="490410"/>
                  </a:lnTo>
                  <a:lnTo>
                    <a:pt x="271320" y="499944"/>
                  </a:lnTo>
                  <a:lnTo>
                    <a:pt x="323850" y="503237"/>
                  </a:lnTo>
                  <a:lnTo>
                    <a:pt x="376379" y="499944"/>
                  </a:lnTo>
                  <a:lnTo>
                    <a:pt x="426210" y="490410"/>
                  </a:lnTo>
                  <a:lnTo>
                    <a:pt x="472676" y="475152"/>
                  </a:lnTo>
                  <a:lnTo>
                    <a:pt x="515110" y="454690"/>
                  </a:lnTo>
                  <a:lnTo>
                    <a:pt x="552845" y="429540"/>
                  </a:lnTo>
                  <a:lnTo>
                    <a:pt x="585214" y="400222"/>
                  </a:lnTo>
                  <a:lnTo>
                    <a:pt x="611551" y="367251"/>
                  </a:lnTo>
                  <a:lnTo>
                    <a:pt x="631189" y="331148"/>
                  </a:lnTo>
                  <a:lnTo>
                    <a:pt x="643461" y="292429"/>
                  </a:lnTo>
                  <a:lnTo>
                    <a:pt x="647700" y="251612"/>
                  </a:lnTo>
                  <a:lnTo>
                    <a:pt x="643461" y="210799"/>
                  </a:lnTo>
                  <a:lnTo>
                    <a:pt x="631189" y="172082"/>
                  </a:lnTo>
                  <a:lnTo>
                    <a:pt x="611551" y="135981"/>
                  </a:lnTo>
                  <a:lnTo>
                    <a:pt x="585214" y="103012"/>
                  </a:lnTo>
                  <a:lnTo>
                    <a:pt x="552845" y="73694"/>
                  </a:lnTo>
                  <a:lnTo>
                    <a:pt x="515110" y="48546"/>
                  </a:lnTo>
                  <a:lnTo>
                    <a:pt x="472676" y="28084"/>
                  </a:lnTo>
                  <a:lnTo>
                    <a:pt x="426210" y="12827"/>
                  </a:lnTo>
                  <a:lnTo>
                    <a:pt x="376379" y="3293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73A4F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1"/>
            <p:cNvSpPr/>
            <p:nvPr/>
          </p:nvSpPr>
          <p:spPr>
            <a:xfrm>
              <a:off x="4427537" y="4581525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0" y="251618"/>
                  </a:moveTo>
                  <a:lnTo>
                    <a:pt x="4238" y="210804"/>
                  </a:lnTo>
                  <a:lnTo>
                    <a:pt x="16510" y="172087"/>
                  </a:lnTo>
                  <a:lnTo>
                    <a:pt x="36147" y="135985"/>
                  </a:lnTo>
                  <a:lnTo>
                    <a:pt x="62484" y="103016"/>
                  </a:lnTo>
                  <a:lnTo>
                    <a:pt x="94853" y="73697"/>
                  </a:lnTo>
                  <a:lnTo>
                    <a:pt x="132588" y="48547"/>
                  </a:lnTo>
                  <a:lnTo>
                    <a:pt x="175022" y="28085"/>
                  </a:lnTo>
                  <a:lnTo>
                    <a:pt x="221488" y="12827"/>
                  </a:lnTo>
                  <a:lnTo>
                    <a:pt x="271319" y="3293"/>
                  </a:lnTo>
                  <a:lnTo>
                    <a:pt x="323850" y="0"/>
                  </a:lnTo>
                  <a:lnTo>
                    <a:pt x="376380" y="3293"/>
                  </a:lnTo>
                  <a:lnTo>
                    <a:pt x="426211" y="12827"/>
                  </a:lnTo>
                  <a:lnTo>
                    <a:pt x="472677" y="28085"/>
                  </a:lnTo>
                  <a:lnTo>
                    <a:pt x="515111" y="48547"/>
                  </a:lnTo>
                  <a:lnTo>
                    <a:pt x="552846" y="73697"/>
                  </a:lnTo>
                  <a:lnTo>
                    <a:pt x="585215" y="103016"/>
                  </a:lnTo>
                  <a:lnTo>
                    <a:pt x="611552" y="135985"/>
                  </a:lnTo>
                  <a:lnTo>
                    <a:pt x="631189" y="172087"/>
                  </a:lnTo>
                  <a:lnTo>
                    <a:pt x="643461" y="210804"/>
                  </a:lnTo>
                  <a:lnTo>
                    <a:pt x="647699" y="251618"/>
                  </a:lnTo>
                  <a:lnTo>
                    <a:pt x="643461" y="292432"/>
                  </a:lnTo>
                  <a:lnTo>
                    <a:pt x="631189" y="331149"/>
                  </a:lnTo>
                  <a:lnTo>
                    <a:pt x="611552" y="367251"/>
                  </a:lnTo>
                  <a:lnTo>
                    <a:pt x="585215" y="400221"/>
                  </a:lnTo>
                  <a:lnTo>
                    <a:pt x="552846" y="429539"/>
                  </a:lnTo>
                  <a:lnTo>
                    <a:pt x="515111" y="454689"/>
                  </a:lnTo>
                  <a:lnTo>
                    <a:pt x="472677" y="475152"/>
                  </a:lnTo>
                  <a:lnTo>
                    <a:pt x="426211" y="490409"/>
                  </a:lnTo>
                  <a:lnTo>
                    <a:pt x="376380" y="499944"/>
                  </a:lnTo>
                  <a:lnTo>
                    <a:pt x="323850" y="503237"/>
                  </a:lnTo>
                  <a:lnTo>
                    <a:pt x="271319" y="499944"/>
                  </a:lnTo>
                  <a:lnTo>
                    <a:pt x="221488" y="490409"/>
                  </a:lnTo>
                  <a:lnTo>
                    <a:pt x="175022" y="475152"/>
                  </a:lnTo>
                  <a:lnTo>
                    <a:pt x="132588" y="454689"/>
                  </a:lnTo>
                  <a:lnTo>
                    <a:pt x="94853" y="429539"/>
                  </a:lnTo>
                  <a:lnTo>
                    <a:pt x="62484" y="400221"/>
                  </a:lnTo>
                  <a:lnTo>
                    <a:pt x="36147" y="367251"/>
                  </a:lnTo>
                  <a:lnTo>
                    <a:pt x="16510" y="331149"/>
                  </a:lnTo>
                  <a:lnTo>
                    <a:pt x="4238" y="292432"/>
                  </a:lnTo>
                  <a:lnTo>
                    <a:pt x="0" y="25161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1"/>
          <p:cNvSpPr txBox="1"/>
          <p:nvPr/>
        </p:nvSpPr>
        <p:spPr>
          <a:xfrm>
            <a:off x="4613833" y="4683290"/>
            <a:ext cx="2800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n1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81"/>
          <p:cNvGrpSpPr/>
          <p:nvPr/>
        </p:nvGrpSpPr>
        <p:grpSpPr>
          <a:xfrm>
            <a:off x="4427537" y="5373687"/>
            <a:ext cx="647700" cy="503555"/>
            <a:chOff x="4427537" y="5373687"/>
            <a:chExt cx="647700" cy="503555"/>
          </a:xfrm>
        </p:grpSpPr>
        <p:sp>
          <p:nvSpPr>
            <p:cNvPr id="626" name="Google Shape;626;p81"/>
            <p:cNvSpPr/>
            <p:nvPr/>
          </p:nvSpPr>
          <p:spPr>
            <a:xfrm>
              <a:off x="4427537" y="5373687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323850" y="0"/>
                  </a:moveTo>
                  <a:lnTo>
                    <a:pt x="271320" y="3293"/>
                  </a:lnTo>
                  <a:lnTo>
                    <a:pt x="221489" y="12827"/>
                  </a:lnTo>
                  <a:lnTo>
                    <a:pt x="175023" y="28084"/>
                  </a:lnTo>
                  <a:lnTo>
                    <a:pt x="132589" y="48546"/>
                  </a:lnTo>
                  <a:lnTo>
                    <a:pt x="94854" y="73695"/>
                  </a:lnTo>
                  <a:lnTo>
                    <a:pt x="62485" y="103014"/>
                  </a:lnTo>
                  <a:lnTo>
                    <a:pt x="36148" y="135983"/>
                  </a:lnTo>
                  <a:lnTo>
                    <a:pt x="16510" y="172086"/>
                  </a:lnTo>
                  <a:lnTo>
                    <a:pt x="4238" y="210804"/>
                  </a:lnTo>
                  <a:lnTo>
                    <a:pt x="0" y="251620"/>
                  </a:lnTo>
                  <a:lnTo>
                    <a:pt x="4238" y="292433"/>
                  </a:lnTo>
                  <a:lnTo>
                    <a:pt x="16510" y="331150"/>
                  </a:lnTo>
                  <a:lnTo>
                    <a:pt x="36148" y="367253"/>
                  </a:lnTo>
                  <a:lnTo>
                    <a:pt x="62485" y="400222"/>
                  </a:lnTo>
                  <a:lnTo>
                    <a:pt x="94854" y="429541"/>
                  </a:lnTo>
                  <a:lnTo>
                    <a:pt x="132589" y="454690"/>
                  </a:lnTo>
                  <a:lnTo>
                    <a:pt x="175023" y="475153"/>
                  </a:lnTo>
                  <a:lnTo>
                    <a:pt x="221489" y="490411"/>
                  </a:lnTo>
                  <a:lnTo>
                    <a:pt x="271320" y="499945"/>
                  </a:lnTo>
                  <a:lnTo>
                    <a:pt x="323850" y="503238"/>
                  </a:lnTo>
                  <a:lnTo>
                    <a:pt x="376379" y="499945"/>
                  </a:lnTo>
                  <a:lnTo>
                    <a:pt x="426210" y="490411"/>
                  </a:lnTo>
                  <a:lnTo>
                    <a:pt x="472676" y="475153"/>
                  </a:lnTo>
                  <a:lnTo>
                    <a:pt x="515110" y="454690"/>
                  </a:lnTo>
                  <a:lnTo>
                    <a:pt x="552845" y="429541"/>
                  </a:lnTo>
                  <a:lnTo>
                    <a:pt x="585214" y="400222"/>
                  </a:lnTo>
                  <a:lnTo>
                    <a:pt x="611551" y="367253"/>
                  </a:lnTo>
                  <a:lnTo>
                    <a:pt x="631189" y="331150"/>
                  </a:lnTo>
                  <a:lnTo>
                    <a:pt x="643461" y="292433"/>
                  </a:lnTo>
                  <a:lnTo>
                    <a:pt x="647700" y="251620"/>
                  </a:lnTo>
                  <a:lnTo>
                    <a:pt x="643461" y="210804"/>
                  </a:lnTo>
                  <a:lnTo>
                    <a:pt x="631189" y="172086"/>
                  </a:lnTo>
                  <a:lnTo>
                    <a:pt x="611551" y="135983"/>
                  </a:lnTo>
                  <a:lnTo>
                    <a:pt x="585214" y="103014"/>
                  </a:lnTo>
                  <a:lnTo>
                    <a:pt x="552845" y="73695"/>
                  </a:lnTo>
                  <a:lnTo>
                    <a:pt x="515110" y="48546"/>
                  </a:lnTo>
                  <a:lnTo>
                    <a:pt x="472676" y="28084"/>
                  </a:lnTo>
                  <a:lnTo>
                    <a:pt x="426210" y="12827"/>
                  </a:lnTo>
                  <a:lnTo>
                    <a:pt x="376379" y="3293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73A4F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81"/>
            <p:cNvSpPr/>
            <p:nvPr/>
          </p:nvSpPr>
          <p:spPr>
            <a:xfrm>
              <a:off x="4427537" y="5373687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0" y="251618"/>
                  </a:moveTo>
                  <a:lnTo>
                    <a:pt x="4238" y="210805"/>
                  </a:lnTo>
                  <a:lnTo>
                    <a:pt x="16510" y="172087"/>
                  </a:lnTo>
                  <a:lnTo>
                    <a:pt x="36147" y="135985"/>
                  </a:lnTo>
                  <a:lnTo>
                    <a:pt x="62484" y="103016"/>
                  </a:lnTo>
                  <a:lnTo>
                    <a:pt x="94853" y="73697"/>
                  </a:lnTo>
                  <a:lnTo>
                    <a:pt x="132588" y="48547"/>
                  </a:lnTo>
                  <a:lnTo>
                    <a:pt x="175022" y="28085"/>
                  </a:lnTo>
                  <a:lnTo>
                    <a:pt x="221488" y="12827"/>
                  </a:lnTo>
                  <a:lnTo>
                    <a:pt x="271319" y="3293"/>
                  </a:lnTo>
                  <a:lnTo>
                    <a:pt x="323850" y="0"/>
                  </a:lnTo>
                  <a:lnTo>
                    <a:pt x="376380" y="3293"/>
                  </a:lnTo>
                  <a:lnTo>
                    <a:pt x="426211" y="12827"/>
                  </a:lnTo>
                  <a:lnTo>
                    <a:pt x="472677" y="28085"/>
                  </a:lnTo>
                  <a:lnTo>
                    <a:pt x="515111" y="48547"/>
                  </a:lnTo>
                  <a:lnTo>
                    <a:pt x="552846" y="73697"/>
                  </a:lnTo>
                  <a:lnTo>
                    <a:pt x="585215" y="103016"/>
                  </a:lnTo>
                  <a:lnTo>
                    <a:pt x="611552" y="135985"/>
                  </a:lnTo>
                  <a:lnTo>
                    <a:pt x="631189" y="172087"/>
                  </a:lnTo>
                  <a:lnTo>
                    <a:pt x="643461" y="210805"/>
                  </a:lnTo>
                  <a:lnTo>
                    <a:pt x="647699" y="251618"/>
                  </a:lnTo>
                  <a:lnTo>
                    <a:pt x="643461" y="292432"/>
                  </a:lnTo>
                  <a:lnTo>
                    <a:pt x="631189" y="331149"/>
                  </a:lnTo>
                  <a:lnTo>
                    <a:pt x="611552" y="367252"/>
                  </a:lnTo>
                  <a:lnTo>
                    <a:pt x="585215" y="400221"/>
                  </a:lnTo>
                  <a:lnTo>
                    <a:pt x="552846" y="429540"/>
                  </a:lnTo>
                  <a:lnTo>
                    <a:pt x="515111" y="454689"/>
                  </a:lnTo>
                  <a:lnTo>
                    <a:pt x="472677" y="475152"/>
                  </a:lnTo>
                  <a:lnTo>
                    <a:pt x="426211" y="490409"/>
                  </a:lnTo>
                  <a:lnTo>
                    <a:pt x="376380" y="499944"/>
                  </a:lnTo>
                  <a:lnTo>
                    <a:pt x="323850" y="503237"/>
                  </a:lnTo>
                  <a:lnTo>
                    <a:pt x="271319" y="499944"/>
                  </a:lnTo>
                  <a:lnTo>
                    <a:pt x="221488" y="490409"/>
                  </a:lnTo>
                  <a:lnTo>
                    <a:pt x="175022" y="475152"/>
                  </a:lnTo>
                  <a:lnTo>
                    <a:pt x="132588" y="454689"/>
                  </a:lnTo>
                  <a:lnTo>
                    <a:pt x="94853" y="429540"/>
                  </a:lnTo>
                  <a:lnTo>
                    <a:pt x="62484" y="400221"/>
                  </a:lnTo>
                  <a:lnTo>
                    <a:pt x="36147" y="367252"/>
                  </a:lnTo>
                  <a:lnTo>
                    <a:pt x="16510" y="331149"/>
                  </a:lnTo>
                  <a:lnTo>
                    <a:pt x="4238" y="292432"/>
                  </a:lnTo>
                  <a:lnTo>
                    <a:pt x="0" y="25161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81"/>
          <p:cNvSpPr txBox="1"/>
          <p:nvPr/>
        </p:nvSpPr>
        <p:spPr>
          <a:xfrm>
            <a:off x="4613833" y="5475452"/>
            <a:ext cx="2800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n2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81"/>
          <p:cNvGrpSpPr/>
          <p:nvPr/>
        </p:nvGrpSpPr>
        <p:grpSpPr>
          <a:xfrm>
            <a:off x="5580062" y="4581524"/>
            <a:ext cx="1295400" cy="1800544"/>
            <a:chOff x="5580062" y="4581524"/>
            <a:chExt cx="1295400" cy="1800544"/>
          </a:xfrm>
        </p:grpSpPr>
        <p:sp>
          <p:nvSpPr>
            <p:cNvPr id="630" name="Google Shape;630;p81"/>
            <p:cNvSpPr/>
            <p:nvPr/>
          </p:nvSpPr>
          <p:spPr>
            <a:xfrm>
              <a:off x="6227762" y="4581524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323850" y="0"/>
                  </a:moveTo>
                  <a:lnTo>
                    <a:pt x="271320" y="3293"/>
                  </a:lnTo>
                  <a:lnTo>
                    <a:pt x="221489" y="12827"/>
                  </a:lnTo>
                  <a:lnTo>
                    <a:pt x="175023" y="28084"/>
                  </a:lnTo>
                  <a:lnTo>
                    <a:pt x="132589" y="48546"/>
                  </a:lnTo>
                  <a:lnTo>
                    <a:pt x="94854" y="73694"/>
                  </a:lnTo>
                  <a:lnTo>
                    <a:pt x="62485" y="103012"/>
                  </a:lnTo>
                  <a:lnTo>
                    <a:pt x="36148" y="135981"/>
                  </a:lnTo>
                  <a:lnTo>
                    <a:pt x="16510" y="172082"/>
                  </a:lnTo>
                  <a:lnTo>
                    <a:pt x="4238" y="210799"/>
                  </a:lnTo>
                  <a:lnTo>
                    <a:pt x="0" y="251612"/>
                  </a:lnTo>
                  <a:lnTo>
                    <a:pt x="4238" y="292429"/>
                  </a:lnTo>
                  <a:lnTo>
                    <a:pt x="16510" y="331148"/>
                  </a:lnTo>
                  <a:lnTo>
                    <a:pt x="36148" y="367251"/>
                  </a:lnTo>
                  <a:lnTo>
                    <a:pt x="62485" y="400222"/>
                  </a:lnTo>
                  <a:lnTo>
                    <a:pt x="94854" y="429540"/>
                  </a:lnTo>
                  <a:lnTo>
                    <a:pt x="132589" y="454690"/>
                  </a:lnTo>
                  <a:lnTo>
                    <a:pt x="175023" y="475152"/>
                  </a:lnTo>
                  <a:lnTo>
                    <a:pt x="221489" y="490410"/>
                  </a:lnTo>
                  <a:lnTo>
                    <a:pt x="271320" y="499944"/>
                  </a:lnTo>
                  <a:lnTo>
                    <a:pt x="323850" y="503237"/>
                  </a:lnTo>
                  <a:lnTo>
                    <a:pt x="376379" y="499944"/>
                  </a:lnTo>
                  <a:lnTo>
                    <a:pt x="426210" y="490410"/>
                  </a:lnTo>
                  <a:lnTo>
                    <a:pt x="472676" y="475152"/>
                  </a:lnTo>
                  <a:lnTo>
                    <a:pt x="515110" y="454690"/>
                  </a:lnTo>
                  <a:lnTo>
                    <a:pt x="552845" y="429540"/>
                  </a:lnTo>
                  <a:lnTo>
                    <a:pt x="585214" y="400222"/>
                  </a:lnTo>
                  <a:lnTo>
                    <a:pt x="611551" y="367251"/>
                  </a:lnTo>
                  <a:lnTo>
                    <a:pt x="631189" y="331148"/>
                  </a:lnTo>
                  <a:lnTo>
                    <a:pt x="643461" y="292429"/>
                  </a:lnTo>
                  <a:lnTo>
                    <a:pt x="647700" y="251612"/>
                  </a:lnTo>
                  <a:lnTo>
                    <a:pt x="643461" y="210799"/>
                  </a:lnTo>
                  <a:lnTo>
                    <a:pt x="631189" y="172082"/>
                  </a:lnTo>
                  <a:lnTo>
                    <a:pt x="611551" y="135981"/>
                  </a:lnTo>
                  <a:lnTo>
                    <a:pt x="585214" y="103012"/>
                  </a:lnTo>
                  <a:lnTo>
                    <a:pt x="552845" y="73694"/>
                  </a:lnTo>
                  <a:lnTo>
                    <a:pt x="515110" y="48546"/>
                  </a:lnTo>
                  <a:lnTo>
                    <a:pt x="472676" y="28084"/>
                  </a:lnTo>
                  <a:lnTo>
                    <a:pt x="426210" y="12827"/>
                  </a:lnTo>
                  <a:lnTo>
                    <a:pt x="376379" y="3293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73A4F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1"/>
            <p:cNvSpPr/>
            <p:nvPr/>
          </p:nvSpPr>
          <p:spPr>
            <a:xfrm>
              <a:off x="6227762" y="4581525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0" y="251618"/>
                  </a:moveTo>
                  <a:lnTo>
                    <a:pt x="4238" y="210804"/>
                  </a:lnTo>
                  <a:lnTo>
                    <a:pt x="16510" y="172087"/>
                  </a:lnTo>
                  <a:lnTo>
                    <a:pt x="36147" y="135985"/>
                  </a:lnTo>
                  <a:lnTo>
                    <a:pt x="62484" y="103016"/>
                  </a:lnTo>
                  <a:lnTo>
                    <a:pt x="94853" y="73697"/>
                  </a:lnTo>
                  <a:lnTo>
                    <a:pt x="132588" y="48547"/>
                  </a:lnTo>
                  <a:lnTo>
                    <a:pt x="175022" y="28085"/>
                  </a:lnTo>
                  <a:lnTo>
                    <a:pt x="221488" y="12827"/>
                  </a:lnTo>
                  <a:lnTo>
                    <a:pt x="271319" y="3293"/>
                  </a:lnTo>
                  <a:lnTo>
                    <a:pt x="323849" y="0"/>
                  </a:lnTo>
                  <a:lnTo>
                    <a:pt x="376379" y="3293"/>
                  </a:lnTo>
                  <a:lnTo>
                    <a:pt x="426211" y="12827"/>
                  </a:lnTo>
                  <a:lnTo>
                    <a:pt x="472677" y="28085"/>
                  </a:lnTo>
                  <a:lnTo>
                    <a:pt x="515111" y="48547"/>
                  </a:lnTo>
                  <a:lnTo>
                    <a:pt x="552846" y="73697"/>
                  </a:lnTo>
                  <a:lnTo>
                    <a:pt x="585215" y="103016"/>
                  </a:lnTo>
                  <a:lnTo>
                    <a:pt x="611552" y="135985"/>
                  </a:lnTo>
                  <a:lnTo>
                    <a:pt x="631189" y="172087"/>
                  </a:lnTo>
                  <a:lnTo>
                    <a:pt x="643460" y="210804"/>
                  </a:lnTo>
                  <a:lnTo>
                    <a:pt x="647699" y="251618"/>
                  </a:lnTo>
                  <a:lnTo>
                    <a:pt x="643460" y="292432"/>
                  </a:lnTo>
                  <a:lnTo>
                    <a:pt x="631189" y="331149"/>
                  </a:lnTo>
                  <a:lnTo>
                    <a:pt x="611552" y="367251"/>
                  </a:lnTo>
                  <a:lnTo>
                    <a:pt x="585215" y="400221"/>
                  </a:lnTo>
                  <a:lnTo>
                    <a:pt x="552846" y="429539"/>
                  </a:lnTo>
                  <a:lnTo>
                    <a:pt x="515111" y="454689"/>
                  </a:lnTo>
                  <a:lnTo>
                    <a:pt x="472677" y="475152"/>
                  </a:lnTo>
                  <a:lnTo>
                    <a:pt x="426211" y="490409"/>
                  </a:lnTo>
                  <a:lnTo>
                    <a:pt x="376379" y="499944"/>
                  </a:lnTo>
                  <a:lnTo>
                    <a:pt x="323849" y="503237"/>
                  </a:lnTo>
                  <a:lnTo>
                    <a:pt x="271319" y="499944"/>
                  </a:lnTo>
                  <a:lnTo>
                    <a:pt x="221488" y="490409"/>
                  </a:lnTo>
                  <a:lnTo>
                    <a:pt x="175022" y="475152"/>
                  </a:lnTo>
                  <a:lnTo>
                    <a:pt x="132588" y="454689"/>
                  </a:lnTo>
                  <a:lnTo>
                    <a:pt x="94853" y="429539"/>
                  </a:lnTo>
                  <a:lnTo>
                    <a:pt x="62484" y="400221"/>
                  </a:lnTo>
                  <a:lnTo>
                    <a:pt x="36147" y="367251"/>
                  </a:lnTo>
                  <a:lnTo>
                    <a:pt x="16510" y="331149"/>
                  </a:lnTo>
                  <a:lnTo>
                    <a:pt x="4238" y="292432"/>
                  </a:lnTo>
                  <a:lnTo>
                    <a:pt x="0" y="25161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1"/>
            <p:cNvSpPr/>
            <p:nvPr/>
          </p:nvSpPr>
          <p:spPr>
            <a:xfrm>
              <a:off x="5580062" y="5878513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323850" y="0"/>
                  </a:moveTo>
                  <a:lnTo>
                    <a:pt x="271320" y="3293"/>
                  </a:lnTo>
                  <a:lnTo>
                    <a:pt x="221489" y="12827"/>
                  </a:lnTo>
                  <a:lnTo>
                    <a:pt x="175023" y="28085"/>
                  </a:lnTo>
                  <a:lnTo>
                    <a:pt x="132589" y="48547"/>
                  </a:lnTo>
                  <a:lnTo>
                    <a:pt x="94854" y="73697"/>
                  </a:lnTo>
                  <a:lnTo>
                    <a:pt x="62485" y="103015"/>
                  </a:lnTo>
                  <a:lnTo>
                    <a:pt x="36148" y="135985"/>
                  </a:lnTo>
                  <a:lnTo>
                    <a:pt x="16510" y="172087"/>
                  </a:lnTo>
                  <a:lnTo>
                    <a:pt x="4238" y="210804"/>
                  </a:lnTo>
                  <a:lnTo>
                    <a:pt x="0" y="251618"/>
                  </a:lnTo>
                  <a:lnTo>
                    <a:pt x="4238" y="292432"/>
                  </a:lnTo>
                  <a:lnTo>
                    <a:pt x="16510" y="331149"/>
                  </a:lnTo>
                  <a:lnTo>
                    <a:pt x="36148" y="367251"/>
                  </a:lnTo>
                  <a:lnTo>
                    <a:pt x="62485" y="400221"/>
                  </a:lnTo>
                  <a:lnTo>
                    <a:pt x="94854" y="429539"/>
                  </a:lnTo>
                  <a:lnTo>
                    <a:pt x="132589" y="454689"/>
                  </a:lnTo>
                  <a:lnTo>
                    <a:pt x="175023" y="475152"/>
                  </a:lnTo>
                  <a:lnTo>
                    <a:pt x="221489" y="490409"/>
                  </a:lnTo>
                  <a:lnTo>
                    <a:pt x="271320" y="499944"/>
                  </a:lnTo>
                  <a:lnTo>
                    <a:pt x="323850" y="503237"/>
                  </a:lnTo>
                  <a:lnTo>
                    <a:pt x="376379" y="499944"/>
                  </a:lnTo>
                  <a:lnTo>
                    <a:pt x="426210" y="490409"/>
                  </a:lnTo>
                  <a:lnTo>
                    <a:pt x="472676" y="475152"/>
                  </a:lnTo>
                  <a:lnTo>
                    <a:pt x="515110" y="454689"/>
                  </a:lnTo>
                  <a:lnTo>
                    <a:pt x="552845" y="429539"/>
                  </a:lnTo>
                  <a:lnTo>
                    <a:pt x="585214" y="400221"/>
                  </a:lnTo>
                  <a:lnTo>
                    <a:pt x="611551" y="367251"/>
                  </a:lnTo>
                  <a:lnTo>
                    <a:pt x="631189" y="331149"/>
                  </a:lnTo>
                  <a:lnTo>
                    <a:pt x="643461" y="292432"/>
                  </a:lnTo>
                  <a:lnTo>
                    <a:pt x="647700" y="251618"/>
                  </a:lnTo>
                  <a:lnTo>
                    <a:pt x="643461" y="210804"/>
                  </a:lnTo>
                  <a:lnTo>
                    <a:pt x="631189" y="172087"/>
                  </a:lnTo>
                  <a:lnTo>
                    <a:pt x="611551" y="135985"/>
                  </a:lnTo>
                  <a:lnTo>
                    <a:pt x="585214" y="103015"/>
                  </a:lnTo>
                  <a:lnTo>
                    <a:pt x="552845" y="73697"/>
                  </a:lnTo>
                  <a:lnTo>
                    <a:pt x="515110" y="48547"/>
                  </a:lnTo>
                  <a:lnTo>
                    <a:pt x="472676" y="28085"/>
                  </a:lnTo>
                  <a:lnTo>
                    <a:pt x="426210" y="12827"/>
                  </a:lnTo>
                  <a:lnTo>
                    <a:pt x="376379" y="3293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73A4F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81"/>
            <p:cNvSpPr/>
            <p:nvPr/>
          </p:nvSpPr>
          <p:spPr>
            <a:xfrm>
              <a:off x="5580062" y="5878513"/>
              <a:ext cx="647700" cy="503555"/>
            </a:xfrm>
            <a:custGeom>
              <a:avLst/>
              <a:gdLst/>
              <a:ahLst/>
              <a:cxnLst/>
              <a:rect l="l" t="t" r="r" b="b"/>
              <a:pathLst>
                <a:path w="647700" h="503554" extrusionOk="0">
                  <a:moveTo>
                    <a:pt x="0" y="251618"/>
                  </a:moveTo>
                  <a:lnTo>
                    <a:pt x="4238" y="210804"/>
                  </a:lnTo>
                  <a:lnTo>
                    <a:pt x="16510" y="172087"/>
                  </a:lnTo>
                  <a:lnTo>
                    <a:pt x="36147" y="135985"/>
                  </a:lnTo>
                  <a:lnTo>
                    <a:pt x="62484" y="103016"/>
                  </a:lnTo>
                  <a:lnTo>
                    <a:pt x="94853" y="73697"/>
                  </a:lnTo>
                  <a:lnTo>
                    <a:pt x="132588" y="48547"/>
                  </a:lnTo>
                  <a:lnTo>
                    <a:pt x="175022" y="28085"/>
                  </a:lnTo>
                  <a:lnTo>
                    <a:pt x="221488" y="12827"/>
                  </a:lnTo>
                  <a:lnTo>
                    <a:pt x="271319" y="3293"/>
                  </a:lnTo>
                  <a:lnTo>
                    <a:pt x="323849" y="0"/>
                  </a:lnTo>
                  <a:lnTo>
                    <a:pt x="376379" y="3293"/>
                  </a:lnTo>
                  <a:lnTo>
                    <a:pt x="426211" y="12827"/>
                  </a:lnTo>
                  <a:lnTo>
                    <a:pt x="472677" y="28085"/>
                  </a:lnTo>
                  <a:lnTo>
                    <a:pt x="515111" y="48547"/>
                  </a:lnTo>
                  <a:lnTo>
                    <a:pt x="552846" y="73697"/>
                  </a:lnTo>
                  <a:lnTo>
                    <a:pt x="585215" y="103016"/>
                  </a:lnTo>
                  <a:lnTo>
                    <a:pt x="611551" y="135985"/>
                  </a:lnTo>
                  <a:lnTo>
                    <a:pt x="631189" y="172087"/>
                  </a:lnTo>
                  <a:lnTo>
                    <a:pt x="643460" y="210804"/>
                  </a:lnTo>
                  <a:lnTo>
                    <a:pt x="647699" y="251618"/>
                  </a:lnTo>
                  <a:lnTo>
                    <a:pt x="643460" y="292432"/>
                  </a:lnTo>
                  <a:lnTo>
                    <a:pt x="631189" y="331149"/>
                  </a:lnTo>
                  <a:lnTo>
                    <a:pt x="611551" y="367251"/>
                  </a:lnTo>
                  <a:lnTo>
                    <a:pt x="585215" y="400221"/>
                  </a:lnTo>
                  <a:lnTo>
                    <a:pt x="552846" y="429540"/>
                  </a:lnTo>
                  <a:lnTo>
                    <a:pt x="515111" y="454689"/>
                  </a:lnTo>
                  <a:lnTo>
                    <a:pt x="472677" y="475152"/>
                  </a:lnTo>
                  <a:lnTo>
                    <a:pt x="426211" y="490409"/>
                  </a:lnTo>
                  <a:lnTo>
                    <a:pt x="376379" y="499944"/>
                  </a:lnTo>
                  <a:lnTo>
                    <a:pt x="323849" y="503237"/>
                  </a:lnTo>
                  <a:lnTo>
                    <a:pt x="271319" y="499944"/>
                  </a:lnTo>
                  <a:lnTo>
                    <a:pt x="221488" y="490409"/>
                  </a:lnTo>
                  <a:lnTo>
                    <a:pt x="175022" y="475152"/>
                  </a:lnTo>
                  <a:lnTo>
                    <a:pt x="132588" y="454689"/>
                  </a:lnTo>
                  <a:lnTo>
                    <a:pt x="94853" y="429540"/>
                  </a:lnTo>
                  <a:lnTo>
                    <a:pt x="62484" y="400221"/>
                  </a:lnTo>
                  <a:lnTo>
                    <a:pt x="36147" y="367251"/>
                  </a:lnTo>
                  <a:lnTo>
                    <a:pt x="16510" y="331149"/>
                  </a:lnTo>
                  <a:lnTo>
                    <a:pt x="4238" y="292432"/>
                  </a:lnTo>
                  <a:lnTo>
                    <a:pt x="0" y="25161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4" name="Google Shape;634;p81"/>
          <p:cNvSpPr txBox="1"/>
          <p:nvPr/>
        </p:nvSpPr>
        <p:spPr>
          <a:xfrm>
            <a:off x="5652058" y="5980271"/>
            <a:ext cx="5080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Goal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81"/>
          <p:cNvGrpSpPr/>
          <p:nvPr/>
        </p:nvGrpSpPr>
        <p:grpSpPr>
          <a:xfrm>
            <a:off x="4708525" y="4291012"/>
            <a:ext cx="1843459" cy="1685247"/>
            <a:chOff x="4708525" y="4291012"/>
            <a:chExt cx="1843459" cy="1685247"/>
          </a:xfrm>
        </p:grpSpPr>
        <p:sp>
          <p:nvSpPr>
            <p:cNvPr id="636" name="Google Shape;636;p81"/>
            <p:cNvSpPr/>
            <p:nvPr/>
          </p:nvSpPr>
          <p:spPr>
            <a:xfrm>
              <a:off x="5003101" y="4291012"/>
              <a:ext cx="477520" cy="347345"/>
            </a:xfrm>
            <a:custGeom>
              <a:avLst/>
              <a:gdLst/>
              <a:ahLst/>
              <a:cxnLst/>
              <a:rect l="l" t="t" r="r" b="b"/>
              <a:pathLst>
                <a:path w="477520" h="347345" extrusionOk="0">
                  <a:moveTo>
                    <a:pt x="476948" y="0"/>
                  </a:moveTo>
                  <a:lnTo>
                    <a:pt x="0" y="346733"/>
                  </a:lnTo>
                </a:path>
              </a:pathLst>
            </a:custGeom>
            <a:noFill/>
            <a:ln w="28550" cap="flat" cmpd="sng">
              <a:solidFill>
                <a:srgbClr val="00B7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1"/>
            <p:cNvSpPr/>
            <p:nvPr/>
          </p:nvSpPr>
          <p:spPr>
            <a:xfrm>
              <a:off x="4979987" y="4569472"/>
              <a:ext cx="94615" cy="85090"/>
            </a:xfrm>
            <a:custGeom>
              <a:avLst/>
              <a:gdLst/>
              <a:ahLst/>
              <a:cxnLst/>
              <a:rect l="l" t="t" r="r" b="b"/>
              <a:pathLst>
                <a:path w="94614" h="85089" extrusionOk="0">
                  <a:moveTo>
                    <a:pt x="44132" y="0"/>
                  </a:moveTo>
                  <a:lnTo>
                    <a:pt x="0" y="85077"/>
                  </a:lnTo>
                  <a:lnTo>
                    <a:pt x="94538" y="69342"/>
                  </a:lnTo>
                  <a:lnTo>
                    <a:pt x="44132" y="0"/>
                  </a:lnTo>
                  <a:close/>
                </a:path>
              </a:pathLst>
            </a:custGeom>
            <a:solidFill>
              <a:srgbClr val="00B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1"/>
            <p:cNvSpPr/>
            <p:nvPr/>
          </p:nvSpPr>
          <p:spPr>
            <a:xfrm>
              <a:off x="6040437" y="4291012"/>
              <a:ext cx="265430" cy="340995"/>
            </a:xfrm>
            <a:custGeom>
              <a:avLst/>
              <a:gdLst/>
              <a:ahLst/>
              <a:cxnLst/>
              <a:rect l="l" t="t" r="r" b="b"/>
              <a:pathLst>
                <a:path w="265429" h="340995" extrusionOk="0">
                  <a:moveTo>
                    <a:pt x="0" y="0"/>
                  </a:moveTo>
                  <a:lnTo>
                    <a:pt x="265038" y="340976"/>
                  </a:lnTo>
                </a:path>
              </a:pathLst>
            </a:custGeom>
            <a:noFill/>
            <a:ln w="28550" cap="flat" cmpd="sng">
              <a:solidFill>
                <a:srgbClr val="FF27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1"/>
            <p:cNvSpPr/>
            <p:nvPr/>
          </p:nvSpPr>
          <p:spPr>
            <a:xfrm>
              <a:off x="6236563" y="4560569"/>
              <a:ext cx="86995" cy="93980"/>
            </a:xfrm>
            <a:custGeom>
              <a:avLst/>
              <a:gdLst/>
              <a:ahLst/>
              <a:cxnLst/>
              <a:rect l="l" t="t" r="r" b="b"/>
              <a:pathLst>
                <a:path w="86995" h="93979" extrusionOk="0">
                  <a:moveTo>
                    <a:pt x="67678" y="0"/>
                  </a:moveTo>
                  <a:lnTo>
                    <a:pt x="0" y="52603"/>
                  </a:lnTo>
                  <a:lnTo>
                    <a:pt x="86448" y="93979"/>
                  </a:lnTo>
                  <a:lnTo>
                    <a:pt x="67678" y="0"/>
                  </a:lnTo>
                  <a:close/>
                </a:path>
              </a:pathLst>
            </a:custGeom>
            <a:solidFill>
              <a:srgbClr val="FF273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1"/>
            <p:cNvSpPr/>
            <p:nvPr/>
          </p:nvSpPr>
          <p:spPr>
            <a:xfrm>
              <a:off x="4751387" y="5084762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w="120000" h="260350" extrusionOk="0">
                  <a:moveTo>
                    <a:pt x="0" y="0"/>
                  </a:moveTo>
                  <a:lnTo>
                    <a:pt x="0" y="260349"/>
                  </a:lnTo>
                </a:path>
              </a:pathLst>
            </a:custGeom>
            <a:noFill/>
            <a:ln w="28550" cap="flat" cmpd="sng">
              <a:solidFill>
                <a:srgbClr val="00B7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81"/>
            <p:cNvSpPr/>
            <p:nvPr/>
          </p:nvSpPr>
          <p:spPr>
            <a:xfrm>
              <a:off x="4708525" y="52879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 extrusionOk="0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B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81"/>
            <p:cNvSpPr/>
            <p:nvPr/>
          </p:nvSpPr>
          <p:spPr>
            <a:xfrm>
              <a:off x="6144950" y="5084762"/>
              <a:ext cx="407034" cy="841375"/>
            </a:xfrm>
            <a:custGeom>
              <a:avLst/>
              <a:gdLst/>
              <a:ahLst/>
              <a:cxnLst/>
              <a:rect l="l" t="t" r="r" b="b"/>
              <a:pathLst>
                <a:path w="407034" h="841375" extrusionOk="0">
                  <a:moveTo>
                    <a:pt x="406661" y="0"/>
                  </a:moveTo>
                  <a:lnTo>
                    <a:pt x="0" y="841048"/>
                  </a:lnTo>
                </a:path>
              </a:pathLst>
            </a:custGeom>
            <a:noFill/>
            <a:ln w="28550" cap="flat" cmpd="sng">
              <a:solidFill>
                <a:srgbClr val="FF27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81"/>
            <p:cNvSpPr/>
            <p:nvPr/>
          </p:nvSpPr>
          <p:spPr>
            <a:xfrm>
              <a:off x="6131242" y="5855703"/>
              <a:ext cx="77470" cy="95885"/>
            </a:xfrm>
            <a:custGeom>
              <a:avLst/>
              <a:gdLst/>
              <a:ahLst/>
              <a:cxnLst/>
              <a:rect l="l" t="t" r="r" b="b"/>
              <a:pathLst>
                <a:path w="77470" h="95885" extrusionOk="0">
                  <a:moveTo>
                    <a:pt x="0" y="0"/>
                  </a:moveTo>
                  <a:lnTo>
                    <a:pt x="1270" y="95834"/>
                  </a:lnTo>
                  <a:lnTo>
                    <a:pt x="77177" y="37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73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81"/>
            <p:cNvSpPr/>
            <p:nvPr/>
          </p:nvSpPr>
          <p:spPr>
            <a:xfrm>
              <a:off x="4979987" y="5803900"/>
              <a:ext cx="667385" cy="142240"/>
            </a:xfrm>
            <a:custGeom>
              <a:avLst/>
              <a:gdLst/>
              <a:ahLst/>
              <a:cxnLst/>
              <a:rect l="l" t="t" r="r" b="b"/>
              <a:pathLst>
                <a:path w="667385" h="142239" extrusionOk="0">
                  <a:moveTo>
                    <a:pt x="0" y="0"/>
                  </a:moveTo>
                  <a:lnTo>
                    <a:pt x="667372" y="141702"/>
                  </a:lnTo>
                </a:path>
              </a:pathLst>
            </a:custGeom>
            <a:noFill/>
            <a:ln w="28550" cap="flat" cmpd="sng">
              <a:solidFill>
                <a:srgbClr val="00B7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81"/>
            <p:cNvSpPr/>
            <p:nvPr/>
          </p:nvSpPr>
          <p:spPr>
            <a:xfrm>
              <a:off x="5582551" y="5891804"/>
              <a:ext cx="93345" cy="84455"/>
            </a:xfrm>
            <a:custGeom>
              <a:avLst/>
              <a:gdLst/>
              <a:ahLst/>
              <a:cxnLst/>
              <a:rect l="l" t="t" r="r" b="b"/>
              <a:pathLst>
                <a:path w="93345" h="84454" extrusionOk="0">
                  <a:moveTo>
                    <a:pt x="17805" y="0"/>
                  </a:moveTo>
                  <a:lnTo>
                    <a:pt x="0" y="83855"/>
                  </a:lnTo>
                  <a:lnTo>
                    <a:pt x="92760" y="59733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00B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81"/>
          <p:cNvSpPr txBox="1"/>
          <p:nvPr/>
        </p:nvSpPr>
        <p:spPr>
          <a:xfrm>
            <a:off x="6249987" y="4171950"/>
            <a:ext cx="443865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76530" lvl="0" indent="0" algn="l" rtl="0">
              <a:lnSpc>
                <a:spcPct val="100000"/>
              </a:lnSpc>
              <a:spcBef>
                <a:spcPts val="162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n3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8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648" name="Google Shape;648;p8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49" name="Google Shape;649;p81"/>
          <p:cNvSpPr txBox="1"/>
          <p:nvPr/>
        </p:nvSpPr>
        <p:spPr>
          <a:xfrm>
            <a:off x="905827" y="3764280"/>
            <a:ext cx="1874520" cy="83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2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E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step cost = 10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0128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step cost = 100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1"/>
          <p:cNvSpPr txBox="1"/>
          <p:nvPr/>
        </p:nvSpPr>
        <p:spPr>
          <a:xfrm>
            <a:off x="7098665" y="4608195"/>
            <a:ext cx="10744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h(n3) = 10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81"/>
          <p:cNvSpPr txBox="1"/>
          <p:nvPr/>
        </p:nvSpPr>
        <p:spPr>
          <a:xfrm>
            <a:off x="2994977" y="4541520"/>
            <a:ext cx="10744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h(n1) = 20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1"/>
          <p:cNvSpPr txBox="1"/>
          <p:nvPr/>
        </p:nvSpPr>
        <p:spPr>
          <a:xfrm>
            <a:off x="6402387" y="5391150"/>
            <a:ext cx="28321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81"/>
          <p:cNvSpPr txBox="1"/>
          <p:nvPr/>
        </p:nvSpPr>
        <p:spPr>
          <a:xfrm>
            <a:off x="4878387" y="4248150"/>
            <a:ext cx="28321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E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81"/>
          <p:cNvSpPr txBox="1"/>
          <p:nvPr/>
        </p:nvSpPr>
        <p:spPr>
          <a:xfrm>
            <a:off x="4344987" y="5010150"/>
            <a:ext cx="28321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E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81"/>
          <p:cNvSpPr txBox="1"/>
          <p:nvPr/>
        </p:nvSpPr>
        <p:spPr>
          <a:xfrm>
            <a:off x="5106987" y="5848350"/>
            <a:ext cx="28321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E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81"/>
          <p:cNvSpPr txBox="1"/>
          <p:nvPr/>
        </p:nvSpPr>
        <p:spPr>
          <a:xfrm>
            <a:off x="382587" y="1185227"/>
            <a:ext cx="8343265" cy="215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280670" lvl="0" indent="-2679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use h(n) to rank the nodes on OPEN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53720" lvl="1" indent="-2743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Always expand node with lowest h-­‐value.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80670" lvl="0" indent="-26797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are greedily trying to achieve a low cost solution.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79400" marR="5080" lvl="0" indent="-266700" algn="l" rtl="0">
              <a:lnSpc>
                <a:spcPct val="100800"/>
              </a:lnSpc>
              <a:spcBef>
                <a:spcPts val="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However, this method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ignores the cost of getting to n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so it can be lead astray exploring nodes that cost a lot but seem to be close to the goal: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Greedy best-­‐first search example</a:t>
            </a:r>
            <a:endParaRPr/>
          </a:p>
        </p:txBody>
      </p:sp>
      <p:pic>
        <p:nvPicPr>
          <p:cNvPr id="662" name="Google Shape;662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873" y="1546225"/>
            <a:ext cx="7608926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664" name="Google Shape;664;p8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A* search</a:t>
            </a:r>
            <a:endParaRPr sz="3400"/>
          </a:p>
        </p:txBody>
      </p:sp>
      <p:sp>
        <p:nvSpPr>
          <p:cNvPr id="670" name="Google Shape;670;p8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671" name="Google Shape;671;p8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72" name="Google Shape;672;p83"/>
          <p:cNvSpPr txBox="1"/>
          <p:nvPr/>
        </p:nvSpPr>
        <p:spPr>
          <a:xfrm>
            <a:off x="458787" y="1101407"/>
            <a:ext cx="8232140" cy="50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279400" marR="168275" lvl="0" indent="-2667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Take into account the cost of getting to the node as well as our estimate of the cost of getting to the goal from the node.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Define an evaluation function f(n)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f(n) = g(n) + h(n)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53720" lvl="1" indent="-274319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g(n) is the cost of the path represented by node 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53720" lvl="1" indent="-27431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h(n) is the heuristic estimate of the cost of achieving the goal from 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-2667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Always expand the node with lowest f-­‐value on OPEN.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marR="153670" lvl="0" indent="-266700" algn="l" rtl="0">
              <a:lnSpc>
                <a:spcPct val="104999"/>
              </a:lnSpc>
              <a:spcBef>
                <a:spcPts val="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f-­‐value, f(n) is an estimate of the cost of getting to the goal via the node (path) 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5465" marR="5080" lvl="1" indent="-266700" algn="l" rtl="0">
              <a:lnSpc>
                <a:spcPct val="111000"/>
              </a:lnSpc>
              <a:spcBef>
                <a:spcPts val="44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I.e., we first follow the path n then we try to get to the goal. f(n) estimates the total cost of such a solution.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678" name="Google Shape;67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0100" y="1590675"/>
            <a:ext cx="685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8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681" name="Google Shape;681;p8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3225" y="1600200"/>
            <a:ext cx="43053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8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688" name="Google Shape;688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690" name="Google Shape;690;p8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6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696" name="Google Shape;69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675" y="1600200"/>
            <a:ext cx="52768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705" name="Google Shape;705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675" y="1600200"/>
            <a:ext cx="52768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8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708" name="Google Shape;708;p8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714" name="Google Shape;714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675" y="1600200"/>
            <a:ext cx="52768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8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717" name="Google Shape;717;p8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</a:t>
            </a:r>
            <a:r>
              <a:rPr lang="en-US" sz="3375" baseline="30000">
                <a:solidFill>
                  <a:srgbClr val="021EAA"/>
                </a:solidFill>
              </a:rPr>
              <a:t>* </a:t>
            </a:r>
            <a:r>
              <a:rPr lang="en-US" sz="3400"/>
              <a:t>example</a:t>
            </a:r>
            <a:endParaRPr sz="3400"/>
          </a:p>
        </p:txBody>
      </p:sp>
      <p:pic>
        <p:nvPicPr>
          <p:cNvPr id="723" name="Google Shape;72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675" y="1600200"/>
            <a:ext cx="5276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581" y="3830668"/>
            <a:ext cx="4626875" cy="2212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8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726" name="Google Shape;726;p8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A* depend on conditions on h(n)</a:t>
            </a:r>
            <a:endParaRPr/>
          </a:p>
        </p:txBody>
      </p:sp>
      <p:sp>
        <p:nvSpPr>
          <p:cNvPr id="732" name="Google Shape;732;p9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733" name="Google Shape;733;p9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34" name="Google Shape;734;p90"/>
          <p:cNvSpPr txBox="1"/>
          <p:nvPr/>
        </p:nvSpPr>
        <p:spPr>
          <a:xfrm>
            <a:off x="306387" y="1223708"/>
            <a:ext cx="8512175" cy="284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81305" lvl="0" indent="-268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 want to analyze the behavior of the resultant search.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552450" lvl="1" indent="-27305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Completeness, time and space, optimality?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l" rtl="0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marR="207645" lvl="0" indent="-266700" algn="l" rtl="0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To obtain such results we must put some further conditions on the heuristic function h(n) and the search space.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Conditions on h(n): Admissible</a:t>
            </a:r>
            <a:endParaRPr sz="3400"/>
          </a:p>
        </p:txBody>
      </p:sp>
      <p:sp>
        <p:nvSpPr>
          <p:cNvPr id="740" name="Google Shape;740;p9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741" name="Google Shape;741;p9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42" name="Google Shape;742;p91"/>
          <p:cNvSpPr txBox="1"/>
          <p:nvPr/>
        </p:nvSpPr>
        <p:spPr>
          <a:xfrm>
            <a:off x="382587" y="1022350"/>
            <a:ext cx="8241030" cy="53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79400" marR="160020" lvl="0" indent="-266700" algn="l" rtl="0">
              <a:lnSpc>
                <a:spcPct val="992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rPr>
              <a:t>always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assume that </a:t>
            </a:r>
            <a:r>
              <a:rPr lang="en-US" sz="2800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rPr>
              <a:t>c(s1, a, s2) ≥ ε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 0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for any two states s1 and s2 and any action a: the cost of any transition is greater than zero and can't be arbitrarily small.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79400" marR="43815" lvl="0" indent="-266700" algn="l" rtl="0">
              <a:lnSpc>
                <a:spcPct val="100099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Let h*(n) be the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cost of an optimal path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from n to a goal node (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if there is no path). Then an </a:t>
            </a: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admissible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heuristic satisfies the condition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55372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h(n) ≤	h*(n)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6100" marR="5080" lvl="1" indent="-266700" algn="l" rtl="0">
              <a:lnSpc>
                <a:spcPct val="101499"/>
              </a:lnSpc>
              <a:spcBef>
                <a:spcPts val="57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an admissible heuristic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never over-­‐estimates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cost to reach the goal, i.e., it is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optimistic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81305" lvl="0" indent="-268605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Hence h(g) = 0, for any goal node 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81305" lvl="0" indent="-268605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Also h*(n) =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if there is no path from n to a goal node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Consistency (aka monotonicity)</a:t>
            </a:r>
            <a:endParaRPr sz="3400"/>
          </a:p>
        </p:txBody>
      </p:sp>
      <p:sp>
        <p:nvSpPr>
          <p:cNvPr id="748" name="Google Shape;748;p9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749" name="Google Shape;749;p9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50" name="Google Shape;750;p92"/>
          <p:cNvSpPr txBox="1"/>
          <p:nvPr/>
        </p:nvSpPr>
        <p:spPr>
          <a:xfrm>
            <a:off x="401637" y="1350962"/>
            <a:ext cx="8091170" cy="484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61315" lvl="0" indent="-3486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 stronger condition than h(n) ≤	h*(n).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1104900" lvl="0" indent="-26670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	A </a:t>
            </a:r>
            <a:r>
              <a:rPr lang="en-US" sz="24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monotone/consistent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heuristic satisfies the triangle inequality: for all nodes n1, n2 and for all actions a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184150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h(n1) ≤ C(n1,a,n2) + h(n2)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5080" lvl="0" indent="0" algn="l" rtl="0">
              <a:lnSpc>
                <a:spcPct val="100699"/>
              </a:lnSpc>
              <a:spcBef>
                <a:spcPts val="282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Where C(n1, a, n2) means the cost of getting from the terminal state of n1 to the terminal state of n2 via action a.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327660" lvl="0" indent="-266700" algn="l" rtl="0">
              <a:lnSpc>
                <a:spcPct val="101499"/>
              </a:lnSpc>
              <a:spcBef>
                <a:spcPts val="55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Note that there might be more than one transition (action) between n1 and n2, the inequality must hold for all of them.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-26670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Monotonicity implies admissibility.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553720" lvl="1" indent="-274319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dirty="0" err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forall</a:t>
            </a:r>
            <a:r>
              <a:rPr lang="en-US" sz="20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 n1, n2, a) </a:t>
            </a:r>
            <a:r>
              <a:rPr lang="en-US" sz="2000" dirty="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h(n1) ≤ C(n1</a:t>
            </a:r>
            <a:r>
              <a:rPr lang="en-US" sz="20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,a,</a:t>
            </a:r>
            <a:r>
              <a:rPr lang="en-US" sz="2000" dirty="0">
                <a:solidFill>
                  <a:srgbClr val="FF2734"/>
                </a:solidFill>
                <a:latin typeface="Calibri"/>
                <a:ea typeface="Calibri"/>
                <a:cs typeface="Calibri"/>
                <a:sym typeface="Calibri"/>
              </a:rPr>
              <a:t>n2) + h(n2) </a:t>
            </a:r>
            <a:r>
              <a:rPr lang="en-US" sz="2000" dirty="0">
                <a:solidFill>
                  <a:srgbClr val="FF2734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sz="2000" dirty="0">
                <a:solidFill>
                  <a:srgbClr val="FF2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dirty="0" err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forall</a:t>
            </a:r>
            <a:r>
              <a:rPr lang="en-US" sz="2000" dirty="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 n) h(n) ≤ h*(n)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Consistency </a:t>
            </a:r>
            <a:r>
              <a:rPr lang="en-US" b="0">
                <a:solidFill>
                  <a:srgbClr val="021EA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 b="0">
                <a:solidFill>
                  <a:srgbClr val="021E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021EAA"/>
                </a:solidFill>
              </a:rPr>
              <a:t>Admissible</a:t>
            </a:r>
            <a:endParaRPr/>
          </a:p>
        </p:txBody>
      </p:sp>
      <p:sp>
        <p:nvSpPr>
          <p:cNvPr id="756" name="Google Shape;756;p9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757" name="Google Shape;757;p9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58" name="Google Shape;758;p93"/>
          <p:cNvSpPr txBox="1"/>
          <p:nvPr/>
        </p:nvSpPr>
        <p:spPr>
          <a:xfrm>
            <a:off x="306387" y="1035557"/>
            <a:ext cx="8711565" cy="5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27940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Assume consistency: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h(n) ≤ c(n,a,n2) + h(n2)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8067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Prove admissible: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h(n) ≤	h*(n)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Proof: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marR="5080" lvl="0" indent="-266700" algn="l" rtl="0">
              <a:lnSpc>
                <a:spcPct val="101099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Let n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n1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n* be an OPTIMAL path from n to a goal (with actions a1, a2). Note the cost of this path is h*(n), and each subpath (ni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n*) has cost equal to h*(ni).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If no path exists from n to a goal then h*(n) =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h(n) ≤	h*(n)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marR="857885" lvl="0" indent="-266700" algn="l" rtl="0">
              <a:lnSpc>
                <a:spcPct val="101499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Otherwise prove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h(n) ≤	h*(n)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by induction on the length of this optimal path.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Base Case: n = n*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By our conditions on h, h(n) = 0 ≤ h(n)* = 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875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Induction Hypothesis: h(n1)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h*(n1)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794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h(n) ≤ c(n,a1,n1) + h(n1) ≤ c(n,a1,n1) + h*(n1) = h*(n)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9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Intuition behind admissibility</a:t>
            </a:r>
            <a:endParaRPr sz="3400"/>
          </a:p>
        </p:txBody>
      </p:sp>
      <p:sp>
        <p:nvSpPr>
          <p:cNvPr id="764" name="Google Shape;764;p9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765" name="Google Shape;765;p9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66" name="Google Shape;766;p94"/>
          <p:cNvSpPr txBox="1"/>
          <p:nvPr/>
        </p:nvSpPr>
        <p:spPr>
          <a:xfrm>
            <a:off x="306387" y="1237170"/>
            <a:ext cx="8546465" cy="411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h(n) ≤	h*(n) means that the search won’t miss any promising paths.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5465" marR="81280" lvl="0" indent="-266700" algn="l" rtl="0">
              <a:lnSpc>
                <a:spcPct val="101099"/>
              </a:lnSpc>
              <a:spcBef>
                <a:spcPts val="46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If it really is cheap to get to a goal via n (i.e., both g(n) and h*(n) are low), then f(n) = g(n) + h(n) will also be low, and the search won’t ignore n in favor of more expensive options.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5465" marR="1013460" lvl="0" indent="-266700" algn="l" rtl="0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This can be formalized to show that admissibility implies optimality.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5465" marR="5080" lvl="0" indent="-266700" algn="l" rtl="0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Monotonicity gives some additional properties when it comes to cycle checking.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772" name="Google Shape;772;p9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773" name="Google Shape;773;p9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74" name="Google Shape;774;p95"/>
          <p:cNvSpPr txBox="1"/>
          <p:nvPr/>
        </p:nvSpPr>
        <p:spPr>
          <a:xfrm>
            <a:off x="228600" y="990599"/>
            <a:ext cx="8229600" cy="762000"/>
          </a:xfrm>
          <a:prstGeom prst="rect">
            <a:avLst/>
          </a:pr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0650" rIns="0" bIns="0" anchor="t" anchorCtr="0">
            <a:spAutoFit/>
          </a:bodyPr>
          <a:lstStyle/>
          <a:p>
            <a:pPr marL="901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1.	The f-­‐values of nodes along a path must be non-­‐decreasing.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95"/>
          <p:cNvSpPr txBox="1"/>
          <p:nvPr/>
        </p:nvSpPr>
        <p:spPr>
          <a:xfrm>
            <a:off x="540402" y="1971802"/>
            <a:ext cx="7941309" cy="393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Let &lt;Start→ s1→ s2 → … → sk&gt; be a path. Let ni be the subpath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085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&lt;Start → s1 →… → si&gt;: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085" lvl="0" indent="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claim that:	f(ni) ≤ f(ni+1)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Proof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f(ni)	= c(Start→…→ ni) + h(ni)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92785" lvl="0" indent="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≤ c(Start→…→ ni)	+ c(ni→ni+1) + h(ni+1)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83260" lvl="0" indent="0" algn="l" rtl="0">
              <a:lnSpc>
                <a:spcPct val="118333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≤ c(Start→ …→ ni→ ni+1) + h(ni+1)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83260" lvl="0" indent="0" algn="l" rtl="0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≤ g(ni+1) + h(ni+1) = f(ni+1)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6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781" name="Google Shape;781;p9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782" name="Google Shape;782;p9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83" name="Google Shape;783;p96"/>
          <p:cNvSpPr txBox="1"/>
          <p:nvPr/>
        </p:nvSpPr>
        <p:spPr>
          <a:xfrm>
            <a:off x="228600" y="990599"/>
            <a:ext cx="8610600" cy="1295400"/>
          </a:xfrm>
          <a:prstGeom prst="rect">
            <a:avLst/>
          </a:pr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5875" rIns="0" bIns="0" anchor="t" anchorCtr="0">
            <a:spAutoFit/>
          </a:bodyPr>
          <a:lstStyle/>
          <a:p>
            <a:pPr marL="704215" marR="1504315" lvl="0" indent="-614045" algn="l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2.	If n2 is expanded immediately after n1, then f(n1) ≤	f(n2)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34975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(the f-­‐value of expanded nodes is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monotonic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non-­‐decreasing)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96"/>
          <p:cNvSpPr txBox="1"/>
          <p:nvPr/>
        </p:nvSpPr>
        <p:spPr>
          <a:xfrm>
            <a:off x="306387" y="2281681"/>
            <a:ext cx="8416290" cy="253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25" rIns="0" bIns="0" anchor="t" anchorCtr="0">
            <a:spAutoFit/>
          </a:bodyPr>
          <a:lstStyle/>
          <a:p>
            <a:pPr marL="279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Proof: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82295" lvl="0" indent="-569595" algn="l" rtl="0">
              <a:lnSpc>
                <a:spcPct val="114583"/>
              </a:lnSpc>
              <a:spcBef>
                <a:spcPts val="219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If n2 was on OPEN when n1 was expanded,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70865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then f(n1) ≤ f(n2) otherwise we would have expanded n2.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70865" marR="5080" lvl="0" indent="-558800" algn="just" rtl="0">
              <a:lnSpc>
                <a:spcPct val="894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If n2 was added to OPEN after n1's expansion, then n2 extends n1's path. That is, the path represented by n1 is a prefix of the path represented by n2. By property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have f(n1)≤f(n2) as the f-­‐values along a path are non-­‐decreasing.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9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790" name="Google Shape;790;p9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sp>
        <p:nvSpPr>
          <p:cNvPr id="791" name="Google Shape;791;p9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792" name="Google Shape;792;p97"/>
          <p:cNvSpPr txBox="1"/>
          <p:nvPr/>
        </p:nvSpPr>
        <p:spPr>
          <a:xfrm>
            <a:off x="228600" y="990599"/>
            <a:ext cx="8534400" cy="2133600"/>
          </a:xfrm>
          <a:prstGeom prst="rect">
            <a:avLst/>
          </a:pr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5875" rIns="0" bIns="0" anchor="t" anchorCtr="0">
            <a:spAutoFit/>
          </a:bodyPr>
          <a:lstStyle/>
          <a:p>
            <a:pPr marL="623570" marR="40005" lvl="0" indent="-533400" algn="l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3.	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Corollary: the sequence of f-­‐values of the nodes expanded by A* is non-­‐decreasing. I.e, If n2 is expanded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(not necessarily immediately after) n1, then f(n1) ≤	f(n2)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34975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(the f-­‐value of expanded nodes is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monotonic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non-­‐decreasing)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97"/>
          <p:cNvSpPr txBox="1"/>
          <p:nvPr/>
        </p:nvSpPr>
        <p:spPr>
          <a:xfrm>
            <a:off x="319087" y="3030981"/>
            <a:ext cx="8317865" cy="32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Proof: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36294" lvl="0" indent="-56959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If n2 was on OPEN when n1 was expanded,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21689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then f(n1) ≤ f(n2) otherwise we would have expanded n2.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36294" marR="5080" lvl="0" indent="-570230" algn="l" rtl="0">
              <a:lnSpc>
                <a:spcPct val="90400"/>
              </a:lnSpc>
              <a:spcBef>
                <a:spcPts val="49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If n2 was added to OPEN after n1's expansion, then let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be 	an ancestor of n2 that was present when n1 was being 	expanded (this could be n1 itself). We have f(n1) ≤ f(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 since 	A* chose n1 while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was present on OPEN. Also,	since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is 	along the path to n2, by property	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have f(n)≤f(n2). So, 	we have f(n1) ≤ f(n2).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799" name="Google Shape;799;p98"/>
          <p:cNvSpPr txBox="1">
            <a:spLocks noGrp="1"/>
          </p:cNvSpPr>
          <p:nvPr>
            <p:ph type="body" idx="1"/>
          </p:nvPr>
        </p:nvSpPr>
        <p:spPr>
          <a:xfrm>
            <a:off x="306387" y="1098550"/>
            <a:ext cx="8364220" cy="441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545465" marR="101600" lvl="0" indent="-5334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C0128"/>
              </a:buClr>
              <a:buSzPts val="2400"/>
              <a:buFont typeface="Calibri"/>
              <a:buAutoNum type="arabicPeriod" startAt="4"/>
            </a:pPr>
            <a:r>
              <a:rPr lang="en-US"/>
              <a:t>When n is expanded every path with lower f-­‐value has already been expanded.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C0128"/>
              </a:buClr>
              <a:buSzPts val="2400"/>
              <a:buFont typeface="Calibri"/>
              <a:buNone/>
            </a:pPr>
            <a:endParaRPr/>
          </a:p>
          <a:p>
            <a:pPr marL="545465" marR="5080" lvl="1" indent="-533400" algn="l" rtl="0">
              <a:lnSpc>
                <a:spcPct val="994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Proof: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Assume by contradiction that there exists a path	&lt;Start, n0, n1, ni-­‐1, ni, ni+1, …, nk&gt;	with f(nk) &lt; f(n) and ni is its last expanded node.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015364" lvl="2" indent="-4565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ni+1 must be on OPEN while n is expanded, so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51230" lvl="3" indent="-254635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000"/>
              <a:buFont typeface="Calibri"/>
              <a:buAutoNum type="alphaLcParenR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by (1) f(ni+1) ≤ f(nk) since they lie along the same path.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39164" lvl="3" indent="-2660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AutoNum type="alphaLcParenR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since f(nk) &lt; f(n) so we have f(ni+1) &lt; f(n)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lvl="3" indent="-241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AutoNum type="alphaLcParenR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by (2) f(n) ≤ f(ni+1) because n is expanded before ni+1.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084580" lvl="2" indent="-5257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Contradiction from b&amp;c!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98"/>
          <p:cNvSpPr/>
          <p:nvPr/>
        </p:nvSpPr>
        <p:spPr>
          <a:xfrm>
            <a:off x="228600" y="990599"/>
            <a:ext cx="8686800" cy="1143000"/>
          </a:xfrm>
          <a:custGeom>
            <a:avLst/>
            <a:gdLst/>
            <a:ahLst/>
            <a:cxnLst/>
            <a:rect l="l" t="t" r="r" b="b"/>
            <a:pathLst>
              <a:path w="8686800" h="1143000" extrusionOk="0">
                <a:moveTo>
                  <a:pt x="0" y="0"/>
                </a:moveTo>
                <a:lnTo>
                  <a:pt x="8686793" y="0"/>
                </a:lnTo>
                <a:lnTo>
                  <a:pt x="8686793" y="1142999"/>
                </a:lnTo>
                <a:lnTo>
                  <a:pt x="0" y="1142999"/>
                </a:lnTo>
                <a:lnTo>
                  <a:pt x="0" y="0"/>
                </a:lnTo>
                <a:close/>
              </a:path>
            </a:pathLst>
          </a:cu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9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  <p:sp>
        <p:nvSpPr>
          <p:cNvPr id="802" name="Google Shape;802;p9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808" name="Google Shape;808;p99"/>
          <p:cNvSpPr txBox="1"/>
          <p:nvPr/>
        </p:nvSpPr>
        <p:spPr>
          <a:xfrm>
            <a:off x="547687" y="1174750"/>
            <a:ext cx="7926705" cy="496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532765" marR="511809" lvl="0" indent="-532765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C0128"/>
              </a:buClr>
              <a:buSzPts val="2400"/>
              <a:buFont typeface="Calibri"/>
              <a:buAutoNum type="arabicPeriod" startAt="5"/>
            </a:pP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With a monotone heuristic, the first time A* expands a state, it has found the minimum cost path to that state.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FC0128"/>
              </a:buClr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377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Proof: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2494" marR="416559" lvl="1" indent="-645795" algn="l" rtl="0">
              <a:lnSpc>
                <a:spcPct val="100800"/>
              </a:lnSpc>
              <a:spcBef>
                <a:spcPts val="40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PATH1 = &lt;Start, s0, s1, …, sk, s&gt;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lang="en-US" sz="2000" b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the first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path to a state s 	found. We have f(path1) = c(PATH1) + h(s).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2494" marR="5080" lvl="1" indent="-645795" algn="l" rtl="0">
              <a:lnSpc>
                <a:spcPct val="100800"/>
              </a:lnSpc>
              <a:spcBef>
                <a:spcPts val="459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PATH2 = &lt;Start, t0, t1, …, tj, s&gt;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be another path to s found later. 	we have f(path2) = c(PATH2) + h(s).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168400" marR="168275" lvl="2" indent="-635000" algn="l" rtl="0">
              <a:lnSpc>
                <a:spcPct val="100800"/>
              </a:lnSpc>
              <a:spcBef>
                <a:spcPts val="459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Note h(s) is dependent only on the state s (terminal state of the path) it does not depend on how we got to 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2" indent="0" algn="l" rtl="0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2494" lvl="1" indent="-6464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By property </a:t>
            </a:r>
            <a:r>
              <a:rPr lang="en-US" sz="20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(3)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f(path1) ≤ f(path2)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l" rtl="0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2494" lvl="1" indent="-64643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hence: c(PATH1) ≤ c(PATH2)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99"/>
          <p:cNvSpPr/>
          <p:nvPr/>
        </p:nvSpPr>
        <p:spPr>
          <a:xfrm>
            <a:off x="228600" y="990599"/>
            <a:ext cx="8686800" cy="1143000"/>
          </a:xfrm>
          <a:custGeom>
            <a:avLst/>
            <a:gdLst/>
            <a:ahLst/>
            <a:cxnLst/>
            <a:rect l="l" t="t" r="r" b="b"/>
            <a:pathLst>
              <a:path w="8686800" h="1143000" extrusionOk="0">
                <a:moveTo>
                  <a:pt x="0" y="0"/>
                </a:moveTo>
                <a:lnTo>
                  <a:pt x="8686793" y="0"/>
                </a:lnTo>
                <a:lnTo>
                  <a:pt x="8686793" y="1142999"/>
                </a:lnTo>
                <a:lnTo>
                  <a:pt x="0" y="1142999"/>
                </a:lnTo>
                <a:lnTo>
                  <a:pt x="0" y="0"/>
                </a:lnTo>
                <a:close/>
              </a:path>
            </a:pathLst>
          </a:cu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9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  <p:sp>
        <p:nvSpPr>
          <p:cNvPr id="811" name="Google Shape;811;p9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0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817" name="Google Shape;817;p10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818" name="Google Shape;818;p10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19" name="Google Shape;819;p100"/>
          <p:cNvSpPr txBox="1"/>
          <p:nvPr/>
        </p:nvSpPr>
        <p:spPr>
          <a:xfrm>
            <a:off x="534987" y="1051701"/>
            <a:ext cx="7863840" cy="536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Complete.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53720" lvl="0" indent="-274954" algn="l" rtl="0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Yes, consider a least cost path to a goal node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812800" marR="44450" lvl="1" indent="-254000" algn="l" rtl="0">
              <a:lnSpc>
                <a:spcPct val="109444"/>
              </a:lnSpc>
              <a:spcBef>
                <a:spcPts val="464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SolutionPath = &lt;Start→ n1→ …→ G&gt; with cost c(SolutionPath). Since h(G) = 0, this means that f(SolutionPath) = cost(SolutionPath)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812800" marR="17780" lvl="1" indent="-254000" algn="l" rtl="0">
              <a:lnSpc>
                <a:spcPct val="895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Since each action has a cost ≥ </a:t>
            </a:r>
            <a:r>
              <a:rPr lang="en-US" sz="1800">
                <a:solidFill>
                  <a:srgbClr val="011279"/>
                </a:solidFill>
                <a:latin typeface="Calibri"/>
                <a:ea typeface="Calibri"/>
                <a:cs typeface="Calibri"/>
                <a:sym typeface="Calibri"/>
              </a:rPr>
              <a:t>ε &gt; 0, there are only a finite number of paths </a:t>
            </a:r>
            <a:r>
              <a:rPr lang="en-U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that have f-­‐value &lt; c(SolutionPath). None of these paths lead to a goal node since SolutionPath is a least cost path to the goal.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812800" marR="545465" lvl="1" indent="-254000" algn="l" rtl="0">
              <a:lnSpc>
                <a:spcPct val="103888"/>
              </a:lnSpc>
              <a:spcBef>
                <a:spcPts val="57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So eventually SolutionPath, or some equal cost path to a goal must be expanded.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Time and Space complexity.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53720" lvl="0" indent="-274954" algn="l" rtl="0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When h(n) = 0, for all n h is monotone.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820419" lvl="1" indent="-26225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A* becomes uniform-­‐cost search!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45465" marR="5080" lvl="0" indent="-266700" algn="just" rtl="0">
              <a:lnSpc>
                <a:spcPct val="109444"/>
              </a:lnSpc>
              <a:spcBef>
                <a:spcPts val="459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It can be shown that when h(n) &gt; 0 for some n and still admissible, the number of nodes expanded can be no larger than uniform-­‐cost.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45465" marR="12700" lvl="0" indent="-266700" algn="just" rtl="0">
              <a:lnSpc>
                <a:spcPct val="109444"/>
              </a:lnSpc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Hence the same bounds as uniform-­‐cost apply. (These are worst case bounds). Still exponential unless we have a very good </a:t>
            </a:r>
            <a:r>
              <a:rPr lang="en-US" sz="1800" i="1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45465" marR="85090" lvl="0" indent="-266700" algn="just" rtl="0">
              <a:lnSpc>
                <a:spcPct val="89500"/>
              </a:lnSpc>
              <a:spcBef>
                <a:spcPts val="36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In real world problems, we sometimes run out of time and memory. IDA* can sometimes be used to address memory issues, but IDA* isn’t very good when many cycles are present.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Consequences of monotonicity</a:t>
            </a:r>
            <a:endParaRPr sz="3400"/>
          </a:p>
        </p:txBody>
      </p:sp>
      <p:sp>
        <p:nvSpPr>
          <p:cNvPr id="825" name="Google Shape;825;p101"/>
          <p:cNvSpPr txBox="1"/>
          <p:nvPr/>
        </p:nvSpPr>
        <p:spPr>
          <a:xfrm>
            <a:off x="458787" y="959357"/>
            <a:ext cx="7894320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Optimality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25194" lvl="0" indent="-645795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Yes, by (5) the first path to a goal node must be optimal.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460500" marR="135255" lvl="0" indent="-457200" algn="l" rtl="0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5.	With a monotone heuristic, the first time A* expands a state, it has found the minimum cost path to that state.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01"/>
          <p:cNvSpPr txBox="1"/>
          <p:nvPr/>
        </p:nvSpPr>
        <p:spPr>
          <a:xfrm>
            <a:off x="458787" y="3569461"/>
            <a:ext cx="7993380" cy="237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Cycle Checking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25194" marR="5080" lvl="0" indent="-64579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can use a simple implementation of cycle checking 	(multiple path checking)-­‐-­‐-­‐just reject all search nodes 	visiting a state already visited by a previously expanded 	node. By property (5) we need keep only the first path to 	a state, rejecting all subsequent paths.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01"/>
          <p:cNvSpPr/>
          <p:nvPr/>
        </p:nvSpPr>
        <p:spPr>
          <a:xfrm>
            <a:off x="1219200" y="1981200"/>
            <a:ext cx="7315200" cy="914400"/>
          </a:xfrm>
          <a:custGeom>
            <a:avLst/>
            <a:gdLst/>
            <a:ahLst/>
            <a:cxnLst/>
            <a:rect l="l" t="t" r="r" b="b"/>
            <a:pathLst>
              <a:path w="7315200" h="914400" extrusionOk="0">
                <a:moveTo>
                  <a:pt x="0" y="0"/>
                </a:moveTo>
                <a:lnTo>
                  <a:pt x="7315194" y="0"/>
                </a:lnTo>
                <a:lnTo>
                  <a:pt x="7315194" y="914399"/>
                </a:lnTo>
                <a:lnTo>
                  <a:pt x="0" y="914399"/>
                </a:lnTo>
                <a:lnTo>
                  <a:pt x="0" y="0"/>
                </a:lnTo>
                <a:close/>
              </a:path>
            </a:pathLst>
          </a:custGeom>
          <a:noFill/>
          <a:ln w="28550" cap="flat" cmpd="sng">
            <a:solidFill>
              <a:srgbClr val="FF27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829" name="Google Shape;829;p10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02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Admissibility without monotonicity</a:t>
            </a:r>
            <a:endParaRPr sz="3400"/>
          </a:p>
        </p:txBody>
      </p:sp>
      <p:sp>
        <p:nvSpPr>
          <p:cNvPr id="835" name="Google Shape;835;p102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836" name="Google Shape;836;p102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37" name="Google Shape;837;p102"/>
          <p:cNvSpPr txBox="1"/>
          <p:nvPr/>
        </p:nvSpPr>
        <p:spPr>
          <a:xfrm>
            <a:off x="382587" y="961390"/>
            <a:ext cx="7865109" cy="1242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-US" sz="240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400">
                <a:latin typeface="MS PGothic"/>
                <a:ea typeface="MS PGothic"/>
                <a:cs typeface="MS PGothic"/>
                <a:sym typeface="MS PGothic"/>
              </a:rPr>
              <a:t>”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is admissible but not monotonic.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25194" lvl="0" indent="-645795" algn="l" rtl="0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Time and Space complexity remain the same. Completeness holds.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25194" marR="76835" lvl="0" indent="-645795" algn="l" rtl="0">
              <a:lnSpc>
                <a:spcPct val="96000"/>
              </a:lnSpc>
              <a:spcBef>
                <a:spcPts val="459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Optimality still holds (without cycle checking), but need a different 	argument: don't know that paths are explored in order of cost.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3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Admissibility without monotonicity</a:t>
            </a:r>
            <a:endParaRPr sz="3400"/>
          </a:p>
        </p:txBody>
      </p:sp>
      <p:sp>
        <p:nvSpPr>
          <p:cNvPr id="843" name="Google Shape;843;p103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844" name="Google Shape;844;p103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45" name="Google Shape;845;p103"/>
          <p:cNvSpPr txBox="1"/>
          <p:nvPr/>
        </p:nvSpPr>
        <p:spPr>
          <a:xfrm>
            <a:off x="546100" y="1023874"/>
            <a:ext cx="8023225" cy="2589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What about Cycle Checking?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546100" marR="5080" lvl="0" indent="-533400" algn="l" rtl="0">
              <a:lnSpc>
                <a:spcPct val="1008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longer guaranteed we have found an optimal path to a node </a:t>
            </a:r>
            <a:r>
              <a:rPr lang="en-US" sz="2000" b="1" i="1">
                <a:latin typeface="Calibri"/>
                <a:ea typeface="Calibri"/>
                <a:cs typeface="Calibri"/>
                <a:sym typeface="Calibri"/>
              </a:rPr>
              <a:t>the first time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visit it.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45465" lvl="0" indent="-5327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So, cycle checking might not preserve optimality.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25194" marR="588010" lvl="1" indent="-645795" algn="l" rtl="0">
              <a:lnSpc>
                <a:spcPct val="116000"/>
              </a:lnSpc>
              <a:spcBef>
                <a:spcPts val="64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fix this: for previously visited nodes, must remember cost of 	previous path. If new path is cheaper must explore again.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4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Space Problems with A*</a:t>
            </a:r>
            <a:endParaRPr sz="3400"/>
          </a:p>
        </p:txBody>
      </p:sp>
      <p:sp>
        <p:nvSpPr>
          <p:cNvPr id="851" name="Google Shape;851;p104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  <p:sp>
        <p:nvSpPr>
          <p:cNvPr id="852" name="Google Shape;852;p104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53" name="Google Shape;853;p104"/>
          <p:cNvSpPr txBox="1"/>
          <p:nvPr/>
        </p:nvSpPr>
        <p:spPr>
          <a:xfrm>
            <a:off x="546100" y="1098550"/>
            <a:ext cx="7550150" cy="162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45465" lvl="0" indent="-5327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A* has the same potential space problems as BFS or UCS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46100" marR="158115" lvl="0" indent="-53340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IDA* -­‐ Iterative Deepening A* is similar to Iterative Deepening Search and similarly addresses space issues.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5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IDA* -­‐ Iterative Deepening A*</a:t>
            </a:r>
            <a:endParaRPr sz="3400"/>
          </a:p>
        </p:txBody>
      </p:sp>
      <p:sp>
        <p:nvSpPr>
          <p:cNvPr id="859" name="Google Shape;859;p105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  <p:sp>
        <p:nvSpPr>
          <p:cNvPr id="860" name="Google Shape;860;p105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61" name="Google Shape;861;p105"/>
          <p:cNvSpPr txBox="1"/>
          <p:nvPr/>
        </p:nvSpPr>
        <p:spPr>
          <a:xfrm>
            <a:off x="546100" y="827278"/>
            <a:ext cx="8068945" cy="555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Objective:	reduce memory requirements for A*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327025" lvl="0" indent="-266700" algn="l" rtl="0">
              <a:lnSpc>
                <a:spcPct val="116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	Like iterative deepening, but now the </a:t>
            </a:r>
            <a:r>
              <a:rPr lang="en-US" sz="2000" dirty="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cutoff</a:t>
            </a:r>
            <a:r>
              <a:rPr lang="en-US" sz="2000" dirty="0">
                <a:latin typeface="MS PGothic"/>
                <a:ea typeface="MS PGothic"/>
                <a:cs typeface="MS PGothic"/>
                <a:sym typeface="MS PGothic"/>
              </a:rPr>
              <a:t>”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is the f-­‐value (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g+h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) rather than the depth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255270" lvl="0" indent="-26670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	At each iteration, the cutoff value is the smallest f-­‐value of any node that exceeded the cutoff on the previous iteration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279400" marR="48260" lvl="0" indent="-266700" algn="l" rtl="0">
              <a:lnSpc>
                <a:spcPct val="100800"/>
              </a:lnSpc>
              <a:spcBef>
                <a:spcPts val="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	Avoids overhead associated with keeping a sorted queue of nodes, and the open list occupies only linear space.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280670" lvl="0" indent="-26797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Two new parameters: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553720" lvl="1" indent="-27431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curBound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(any node with a bigger f-­‐value is discarded)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546100" marR="5080" lvl="1" indent="-266700" algn="l" rtl="0">
              <a:lnSpc>
                <a:spcPct val="100400"/>
              </a:lnSpc>
              <a:spcBef>
                <a:spcPts val="49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smallestNotExplored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(the smallest f-­‐value for discarded nodes in a round)	when OPEN becomes empty, the search starts a new round with this bound.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889000" marR="63500" lvl="2" indent="-342900" algn="l" rtl="0">
              <a:lnSpc>
                <a:spcPct val="100800"/>
              </a:lnSpc>
              <a:spcBef>
                <a:spcPts val="459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Easier to expand all nodes with f-­‐value EQUAL to the f-­‐limit. This way we can compute </a:t>
            </a:r>
            <a:r>
              <a:rPr lang="en-US" sz="2000" dirty="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smallestNotExplored</a:t>
            </a:r>
            <a:r>
              <a:rPr lang="en-US" sz="2000" dirty="0">
                <a:latin typeface="MS PGothic"/>
                <a:ea typeface="MS PGothic"/>
                <a:cs typeface="MS PGothic"/>
                <a:sym typeface="MS PGothic"/>
              </a:rPr>
              <a:t>”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more easily.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6"/>
          <p:cNvSpPr txBox="1">
            <a:spLocks noGrp="1"/>
          </p:cNvSpPr>
          <p:nvPr>
            <p:ph type="title"/>
          </p:nvPr>
        </p:nvSpPr>
        <p:spPr>
          <a:xfrm>
            <a:off x="1467873" y="2303779"/>
            <a:ext cx="621792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Constructing Heuristics</a:t>
            </a:r>
            <a:endParaRPr sz="5100"/>
          </a:p>
        </p:txBody>
      </p:sp>
      <p:sp>
        <p:nvSpPr>
          <p:cNvPr id="867" name="Google Shape;867;p106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  <p:sp>
        <p:nvSpPr>
          <p:cNvPr id="868" name="Google Shape;868;p106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07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Heuristics: Relaxed Problem</a:t>
            </a:r>
            <a:endParaRPr/>
          </a:p>
        </p:txBody>
      </p:sp>
      <p:sp>
        <p:nvSpPr>
          <p:cNvPr id="874" name="Google Shape;874;p107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  <p:sp>
        <p:nvSpPr>
          <p:cNvPr id="875" name="Google Shape;875;p107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76" name="Google Shape;876;p107"/>
          <p:cNvSpPr txBox="1"/>
          <p:nvPr/>
        </p:nvSpPr>
        <p:spPr>
          <a:xfrm>
            <a:off x="420687" y="991870"/>
            <a:ext cx="8048625" cy="453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One useful technique is to consider an easier problem, and let h(n) be the cost of reaching the goal in the easier problem.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8-­‐Puzzle moves.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62964" lvl="1" indent="-342899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move a tile from square A to B if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434465" lvl="2" indent="-342264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is adjacent (left, right, above, below) to 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434465" lvl="2" indent="-3422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 is blank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2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Can relax some of these conditions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77900" marR="379095" lvl="0" indent="-457200" algn="l" rtl="0">
              <a:lnSpc>
                <a:spcPct val="105999"/>
              </a:lnSpc>
              <a:spcBef>
                <a:spcPts val="565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move from A to B if A is adjacent to B (ignore whether or not position is blank)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77264" lvl="0" indent="-457199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move from A to B if B is blank (ignore adjacency)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77264" lvl="0" indent="-457199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move from A to B (ignore both conditions).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8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Heuristics: Relaxed Problem</a:t>
            </a:r>
            <a:endParaRPr/>
          </a:p>
        </p:txBody>
      </p:sp>
      <p:sp>
        <p:nvSpPr>
          <p:cNvPr id="882" name="Google Shape;882;p108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  <p:sp>
        <p:nvSpPr>
          <p:cNvPr id="883" name="Google Shape;883;p108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884" name="Google Shape;884;p108"/>
          <p:cNvSpPr txBox="1"/>
          <p:nvPr/>
        </p:nvSpPr>
        <p:spPr>
          <a:xfrm>
            <a:off x="458787" y="967180"/>
            <a:ext cx="7893050" cy="509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75" rIns="0" bIns="0" anchor="t" anchorCtr="0">
            <a:spAutoFit/>
          </a:bodyPr>
          <a:lstStyle/>
          <a:p>
            <a:pPr marL="469265" lvl="0" indent="-456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#3 </a:t>
            </a:r>
            <a:r>
              <a:rPr lang="en-US" sz="205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000" i="1">
                <a:latin typeface="Calibri"/>
                <a:ea typeface="Calibri"/>
                <a:cs typeface="Calibri"/>
                <a:sym typeface="Calibri"/>
              </a:rPr>
              <a:t>can move from A to B (ignore both conditions)</a:t>
            </a:r>
            <a:r>
              <a:rPr lang="en-US" sz="2050">
                <a:latin typeface="MS PGothic"/>
                <a:ea typeface="MS PGothic"/>
                <a:cs typeface="MS PGothic"/>
                <a:sym typeface="MS PGothic"/>
              </a:rPr>
              <a:t>”</a:t>
            </a:r>
            <a:r>
              <a:rPr lang="en-US" sz="2000" i="1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leads to the </a:t>
            </a:r>
            <a:r>
              <a:rPr lang="en-US" sz="2000" b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misplaced tiles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heuristic.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040764" lvl="1" indent="-380364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To solve the puzzle, we need to move each tile into its final position.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40764" lvl="1" indent="-380364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Number of moves = number of misplaced tiles.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41400" marR="5080" lvl="1" indent="-381000" algn="l" rtl="0">
              <a:lnSpc>
                <a:spcPct val="109444"/>
              </a:lnSpc>
              <a:spcBef>
                <a:spcPts val="46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Clearly h(n) = number of misplaced tiles ≤ the h*(n) the cost of an optimal sequence of moves from 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1800"/>
              <a:buFont typeface="Calibri"/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69900" marR="340360" lvl="0" indent="-457200" algn="l" rtl="0">
              <a:lnSpc>
                <a:spcPct val="103414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#1 </a:t>
            </a:r>
            <a:r>
              <a:rPr lang="en-US" sz="2050"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000" i="1">
                <a:latin typeface="Calibri"/>
                <a:ea typeface="Calibri"/>
                <a:cs typeface="Calibri"/>
                <a:sym typeface="Calibri"/>
              </a:rPr>
              <a:t>can move from A to B if A is adjacent to B (ignore whether or not position is blank)</a:t>
            </a:r>
            <a:r>
              <a:rPr lang="en-US" sz="2050">
                <a:latin typeface="MS PGothic"/>
                <a:ea typeface="MS PGothic"/>
                <a:cs typeface="MS PGothic"/>
                <a:sym typeface="MS PGothic"/>
              </a:rPr>
              <a:t>”</a:t>
            </a:r>
            <a:endParaRPr sz="2050">
              <a:latin typeface="MS PGothic"/>
              <a:ea typeface="MS PGothic"/>
              <a:cs typeface="MS PGothic"/>
              <a:sym typeface="MS PGothic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leads to the </a:t>
            </a:r>
            <a:r>
              <a:rPr lang="en-US" sz="2000" b="1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manhattan distance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heuristic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040764" lvl="1" indent="-380364" algn="l" rtl="0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To solve the puzzle we need to slide each tile into its final position.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40764" lvl="1" indent="-380364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can move vertically or horizontally.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41400" marR="24130" lvl="1" indent="-381000" algn="l" rtl="0">
              <a:lnSpc>
                <a:spcPct val="109444"/>
              </a:lnSpc>
              <a:spcBef>
                <a:spcPts val="459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Number of moves = sum over all of the tiles of the number of vertical and horizontal slides we need to move that tile into place.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40764" lvl="1" indent="-380364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Again h(n) = sum of the manhattan distances ≤ h*(n)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587500" marR="42545" lvl="2" indent="-381000" algn="l" rtl="0">
              <a:lnSpc>
                <a:spcPct val="109444"/>
              </a:lnSpc>
              <a:spcBef>
                <a:spcPts val="459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 a real solution we need to move each tile at least that far and we can only move one tile at a time.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09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Heuristics: Relaxed Problem</a:t>
            </a:r>
            <a:endParaRPr/>
          </a:p>
        </p:txBody>
      </p:sp>
      <p:sp>
        <p:nvSpPr>
          <p:cNvPr id="890" name="Google Shape;890;p109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sp>
        <p:nvSpPr>
          <p:cNvPr id="891" name="Google Shape;891;p109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graphicFrame>
        <p:nvGraphicFramePr>
          <p:cNvPr id="892" name="Google Shape;892;p109"/>
          <p:cNvGraphicFramePr/>
          <p:nvPr/>
        </p:nvGraphicFramePr>
        <p:xfrm>
          <a:off x="1081087" y="1738312"/>
          <a:ext cx="6983075" cy="1466225"/>
        </p:xfrm>
        <a:graphic>
          <a:graphicData uri="http://schemas.openxmlformats.org/drawingml/2006/table">
            <a:tbl>
              <a:tblPr firstRow="1" bandRow="1">
                <a:noFill/>
                <a:tableStyleId>{CB6B8A25-AD9E-4250-A1AC-CF39A5A7DC7E}</a:tableStyleId>
              </a:tblPr>
              <a:tblGrid>
                <a:gridCol w="12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A*(Misplaced) </a:t>
                      </a:r>
                      <a:r>
                        <a:rPr lang="en-US" sz="1800" b="1" u="none" strike="noStrike" cap="none">
                          <a:solidFill>
                            <a:srgbClr val="FC01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A*(Manhattan) </a:t>
                      </a:r>
                      <a:r>
                        <a:rPr lang="en-US" sz="1800" b="1" u="none" strike="noStrike" cap="none">
                          <a:solidFill>
                            <a:srgbClr val="FC01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47,127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3,473,941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539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-­‐-­‐-­‐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39,135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787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3" name="Google Shape;893;p109"/>
          <p:cNvSpPr txBox="1"/>
          <p:nvPr/>
        </p:nvSpPr>
        <p:spPr>
          <a:xfrm>
            <a:off x="803275" y="4009390"/>
            <a:ext cx="7867015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=Misplaced,	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=Manhattan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1790" lvl="0" indent="-339090" algn="l" rtl="0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Does h2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always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expand fewer nodes than h1?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27100" marR="137160" lvl="1" indent="-279400" algn="l" rtl="0">
              <a:lnSpc>
                <a:spcPct val="80000"/>
              </a:lnSpc>
              <a:spcBef>
                <a:spcPts val="43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Yes! Note that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h2 dominates h1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i.e. for all n: h1(n)≤h2(n). From this you can prove h2 is faster than h1 (once both are admissible).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27100" marR="5080" lvl="1" indent="-2794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Therefore, among several admissible heuristic the one with highest value is the fastest.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09"/>
          <p:cNvSpPr txBox="1"/>
          <p:nvPr/>
        </p:nvSpPr>
        <p:spPr>
          <a:xfrm>
            <a:off x="420687" y="1174750"/>
            <a:ext cx="64115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Comparison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 IDS and A* (average total nodes expanded ):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0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Heuristics: Relaxed Problem</a:t>
            </a:r>
            <a:endParaRPr/>
          </a:p>
        </p:txBody>
      </p:sp>
      <p:sp>
        <p:nvSpPr>
          <p:cNvPr id="900" name="Google Shape;900;p110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  <p:sp>
        <p:nvSpPr>
          <p:cNvPr id="901" name="Google Shape;901;p110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902" name="Google Shape;902;p110"/>
          <p:cNvSpPr txBox="1"/>
          <p:nvPr/>
        </p:nvSpPr>
        <p:spPr>
          <a:xfrm>
            <a:off x="611187" y="1174750"/>
            <a:ext cx="7515859" cy="39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2700" marR="732155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optimal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cost to nodes in the relaxed problem is an </a:t>
            </a:r>
            <a:r>
              <a:rPr lang="en-US" sz="2400">
                <a:solidFill>
                  <a:srgbClr val="FC0128"/>
                </a:solidFill>
                <a:latin typeface="Calibri"/>
                <a:ea typeface="Calibri"/>
                <a:cs typeface="Calibri"/>
                <a:sym typeface="Calibri"/>
              </a:rPr>
              <a:t>admissible heuristic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for the original problem!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9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618FFD"/>
                </a:solidFill>
                <a:latin typeface="Calibri"/>
                <a:ea typeface="Calibri"/>
                <a:cs typeface="Calibri"/>
                <a:sym typeface="Calibri"/>
              </a:rPr>
              <a:t>Proof Idea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the optimal solution in the original problem is a solution for relaxed problem, therefore it must be at least as expensive as the optimal solution in the relaxed problem.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marR="332105" lvl="0" indent="0" algn="l" rtl="0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 admissible heuristics can sometimes be constructed by finding a relaxation whose optimal solution can be easily computed.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11"/>
          <p:cNvSpPr txBox="1">
            <a:spLocks noGrp="1"/>
          </p:cNvSpPr>
          <p:nvPr>
            <p:ph type="title"/>
          </p:nvPr>
        </p:nvSpPr>
        <p:spPr>
          <a:xfrm>
            <a:off x="280987" y="109220"/>
            <a:ext cx="751459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Heuristics: Pattern databases</a:t>
            </a:r>
            <a:endParaRPr/>
          </a:p>
        </p:txBody>
      </p:sp>
      <p:sp>
        <p:nvSpPr>
          <p:cNvPr id="908" name="Google Shape;908;p111"/>
          <p:cNvSpPr txBox="1"/>
          <p:nvPr/>
        </p:nvSpPr>
        <p:spPr>
          <a:xfrm>
            <a:off x="306387" y="1098550"/>
            <a:ext cx="8257540" cy="180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79400" marR="5080" lvl="0" indent="-266700" algn="l" rtl="0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Try to generate admissible heuristics by solving a subproblem and storing the exact solution cost for that subproblem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81305" lvl="0" indent="-268605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See Chapter 3.6.3 if you are interested.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9" name="Google Shape;909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7187" y="5818564"/>
            <a:ext cx="472342" cy="17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9618" y="5818564"/>
            <a:ext cx="493736" cy="17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00647" y="5817322"/>
            <a:ext cx="484408" cy="18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1354" y="5818564"/>
            <a:ext cx="493787" cy="1797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3" name="Google Shape;913;p111"/>
          <p:cNvGrpSpPr/>
          <p:nvPr/>
        </p:nvGrpSpPr>
        <p:grpSpPr>
          <a:xfrm>
            <a:off x="1840756" y="3286738"/>
            <a:ext cx="2345055" cy="2365375"/>
            <a:chOff x="1840756" y="3286738"/>
            <a:chExt cx="2345055" cy="2365375"/>
          </a:xfrm>
        </p:grpSpPr>
        <p:sp>
          <p:nvSpPr>
            <p:cNvPr id="914" name="Google Shape;914;p111"/>
            <p:cNvSpPr/>
            <p:nvPr/>
          </p:nvSpPr>
          <p:spPr>
            <a:xfrm>
              <a:off x="1840756" y="3291781"/>
              <a:ext cx="2345055" cy="2353310"/>
            </a:xfrm>
            <a:custGeom>
              <a:avLst/>
              <a:gdLst/>
              <a:ahLst/>
              <a:cxnLst/>
              <a:rect l="l" t="t" r="r" b="b"/>
              <a:pathLst>
                <a:path w="2345054" h="2353310" extrusionOk="0">
                  <a:moveTo>
                    <a:pt x="2344629" y="0"/>
                  </a:moveTo>
                  <a:lnTo>
                    <a:pt x="0" y="0"/>
                  </a:lnTo>
                  <a:lnTo>
                    <a:pt x="0" y="2353025"/>
                  </a:lnTo>
                  <a:lnTo>
                    <a:pt x="2344629" y="2353025"/>
                  </a:lnTo>
                  <a:lnTo>
                    <a:pt x="2344629" y="0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11"/>
            <p:cNvSpPr/>
            <p:nvPr/>
          </p:nvSpPr>
          <p:spPr>
            <a:xfrm>
              <a:off x="1840756" y="3291781"/>
              <a:ext cx="2345055" cy="2353310"/>
            </a:xfrm>
            <a:custGeom>
              <a:avLst/>
              <a:gdLst/>
              <a:ahLst/>
              <a:cxnLst/>
              <a:rect l="l" t="t" r="r" b="b"/>
              <a:pathLst>
                <a:path w="2345054" h="2353310" extrusionOk="0">
                  <a:moveTo>
                    <a:pt x="0" y="2353025"/>
                  </a:moveTo>
                  <a:lnTo>
                    <a:pt x="2344629" y="2353025"/>
                  </a:lnTo>
                  <a:lnTo>
                    <a:pt x="2344629" y="0"/>
                  </a:lnTo>
                  <a:lnTo>
                    <a:pt x="0" y="0"/>
                  </a:lnTo>
                  <a:lnTo>
                    <a:pt x="0" y="2353025"/>
                  </a:lnTo>
                  <a:close/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11"/>
            <p:cNvSpPr/>
            <p:nvPr/>
          </p:nvSpPr>
          <p:spPr>
            <a:xfrm>
              <a:off x="1840756" y="3286738"/>
              <a:ext cx="2345055" cy="2365375"/>
            </a:xfrm>
            <a:custGeom>
              <a:avLst/>
              <a:gdLst/>
              <a:ahLst/>
              <a:cxnLst/>
              <a:rect l="l" t="t" r="r" b="b"/>
              <a:pathLst>
                <a:path w="2345054" h="2365375" extrusionOk="0">
                  <a:moveTo>
                    <a:pt x="2344637" y="2358069"/>
                  </a:moveTo>
                  <a:lnTo>
                    <a:pt x="2344637" y="5068"/>
                  </a:lnTo>
                </a:path>
                <a:path w="2345054" h="2365375" extrusionOk="0">
                  <a:moveTo>
                    <a:pt x="2344637" y="5068"/>
                  </a:moveTo>
                  <a:lnTo>
                    <a:pt x="0" y="5068"/>
                  </a:lnTo>
                </a:path>
                <a:path w="2345054" h="2365375" extrusionOk="0">
                  <a:moveTo>
                    <a:pt x="0" y="5068"/>
                  </a:moveTo>
                  <a:lnTo>
                    <a:pt x="0" y="2358069"/>
                  </a:lnTo>
                </a:path>
                <a:path w="2345054" h="2365375" extrusionOk="0">
                  <a:moveTo>
                    <a:pt x="0" y="2358069"/>
                  </a:moveTo>
                  <a:lnTo>
                    <a:pt x="2344637" y="2358069"/>
                  </a:lnTo>
                </a:path>
                <a:path w="2345054" h="2365375" extrusionOk="0">
                  <a:moveTo>
                    <a:pt x="1570648" y="0"/>
                  </a:moveTo>
                  <a:lnTo>
                    <a:pt x="1570648" y="2364988"/>
                  </a:lnTo>
                </a:path>
                <a:path w="2345054" h="2365375" extrusionOk="0">
                  <a:moveTo>
                    <a:pt x="773363" y="0"/>
                  </a:moveTo>
                  <a:lnTo>
                    <a:pt x="773363" y="2364988"/>
                  </a:lnTo>
                </a:path>
                <a:path w="2345054" h="2365375" extrusionOk="0">
                  <a:moveTo>
                    <a:pt x="0" y="1564730"/>
                  </a:moveTo>
                  <a:lnTo>
                    <a:pt x="2332672" y="1564730"/>
                  </a:lnTo>
                </a:path>
                <a:path w="2345054" h="2365375" extrusionOk="0">
                  <a:moveTo>
                    <a:pt x="0" y="776383"/>
                  </a:moveTo>
                  <a:lnTo>
                    <a:pt x="2344637" y="776383"/>
                  </a:lnTo>
                </a:path>
                <a:path w="2345054" h="2365375" extrusionOk="0">
                  <a:moveTo>
                    <a:pt x="1570648" y="11911"/>
                  </a:moveTo>
                  <a:lnTo>
                    <a:pt x="1570648" y="2364988"/>
                  </a:lnTo>
                </a:path>
                <a:path w="2345054" h="2365375" extrusionOk="0">
                  <a:moveTo>
                    <a:pt x="773363" y="0"/>
                  </a:moveTo>
                  <a:lnTo>
                    <a:pt x="773363" y="2353051"/>
                  </a:lnTo>
                </a:path>
                <a:path w="2345054" h="2365375" extrusionOk="0">
                  <a:moveTo>
                    <a:pt x="0" y="1564730"/>
                  </a:moveTo>
                  <a:lnTo>
                    <a:pt x="2332672" y="1564730"/>
                  </a:lnTo>
                </a:path>
                <a:path w="2345054" h="2365375" extrusionOk="0">
                  <a:moveTo>
                    <a:pt x="11326" y="776383"/>
                  </a:moveTo>
                  <a:lnTo>
                    <a:pt x="2344637" y="776383"/>
                  </a:lnTo>
                </a:path>
                <a:path w="2345054" h="2365375" extrusionOk="0">
                  <a:moveTo>
                    <a:pt x="2344637" y="2358069"/>
                  </a:moveTo>
                  <a:lnTo>
                    <a:pt x="2344637" y="5068"/>
                  </a:lnTo>
                </a:path>
                <a:path w="2345054" h="2365375" extrusionOk="0">
                  <a:moveTo>
                    <a:pt x="2344637" y="5068"/>
                  </a:moveTo>
                  <a:lnTo>
                    <a:pt x="0" y="5068"/>
                  </a:lnTo>
                </a:path>
                <a:path w="2345054" h="2365375" extrusionOk="0">
                  <a:moveTo>
                    <a:pt x="0" y="5068"/>
                  </a:moveTo>
                  <a:lnTo>
                    <a:pt x="0" y="2358069"/>
                  </a:lnTo>
                </a:path>
                <a:path w="2345054" h="2365375" extrusionOk="0">
                  <a:moveTo>
                    <a:pt x="0" y="2358069"/>
                  </a:moveTo>
                  <a:lnTo>
                    <a:pt x="2344637" y="2358069"/>
                  </a:lnTo>
                </a:path>
              </a:pathLst>
            </a:custGeom>
            <a:noFill/>
            <a:ln w="23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11"/>
            <p:cNvSpPr/>
            <p:nvPr/>
          </p:nvSpPr>
          <p:spPr>
            <a:xfrm>
              <a:off x="3501365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11"/>
            <p:cNvSpPr/>
            <p:nvPr/>
          </p:nvSpPr>
          <p:spPr>
            <a:xfrm>
              <a:off x="3501365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11"/>
            <p:cNvSpPr/>
            <p:nvPr/>
          </p:nvSpPr>
          <p:spPr>
            <a:xfrm>
              <a:off x="3501365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0" name="Google Shape;920;p11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50059" y="5157976"/>
              <a:ext cx="88491" cy="209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111"/>
            <p:cNvSpPr/>
            <p:nvPr/>
          </p:nvSpPr>
          <p:spPr>
            <a:xfrm>
              <a:off x="2724233" y="3383653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11"/>
            <p:cNvSpPr/>
            <p:nvPr/>
          </p:nvSpPr>
          <p:spPr>
            <a:xfrm>
              <a:off x="2724233" y="3383653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11"/>
            <p:cNvSpPr/>
            <p:nvPr/>
          </p:nvSpPr>
          <p:spPr>
            <a:xfrm>
              <a:off x="2724233" y="3383551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743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743"/>
                  </a:lnTo>
                </a:path>
                <a:path w="575310" h="570864" extrusionOk="0">
                  <a:moveTo>
                    <a:pt x="575156" y="570743"/>
                  </a:moveTo>
                  <a:lnTo>
                    <a:pt x="0" y="570743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4" name="Google Shape;924;p1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947730" y="3576291"/>
              <a:ext cx="138858" cy="207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11"/>
            <p:cNvSpPr/>
            <p:nvPr/>
          </p:nvSpPr>
          <p:spPr>
            <a:xfrm>
              <a:off x="272423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11"/>
            <p:cNvSpPr/>
            <p:nvPr/>
          </p:nvSpPr>
          <p:spPr>
            <a:xfrm>
              <a:off x="272423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11"/>
            <p:cNvSpPr/>
            <p:nvPr/>
          </p:nvSpPr>
          <p:spPr>
            <a:xfrm>
              <a:off x="272423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11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952775" y="5156075"/>
              <a:ext cx="121849" cy="212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111"/>
            <p:cNvSpPr/>
            <p:nvPr/>
          </p:nvSpPr>
          <p:spPr>
            <a:xfrm>
              <a:off x="3501365" y="3383653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11"/>
            <p:cNvSpPr/>
            <p:nvPr/>
          </p:nvSpPr>
          <p:spPr>
            <a:xfrm>
              <a:off x="3501365" y="3383653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11"/>
            <p:cNvSpPr/>
            <p:nvPr/>
          </p:nvSpPr>
          <p:spPr>
            <a:xfrm>
              <a:off x="3501365" y="3383551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743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743"/>
                  </a:lnTo>
                </a:path>
                <a:path w="575310" h="570864" extrusionOk="0">
                  <a:moveTo>
                    <a:pt x="575156" y="570743"/>
                  </a:moveTo>
                  <a:lnTo>
                    <a:pt x="0" y="570743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2" name="Google Shape;932;p11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719844" y="3576291"/>
              <a:ext cx="143877" cy="207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111"/>
            <p:cNvSpPr/>
            <p:nvPr/>
          </p:nvSpPr>
          <p:spPr>
            <a:xfrm>
              <a:off x="3501365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11"/>
            <p:cNvSpPr/>
            <p:nvPr/>
          </p:nvSpPr>
          <p:spPr>
            <a:xfrm>
              <a:off x="3498534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11"/>
            <p:cNvSpPr/>
            <p:nvPr/>
          </p:nvSpPr>
          <p:spPr>
            <a:xfrm>
              <a:off x="3501365" y="4169142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11"/>
            <p:cNvSpPr/>
            <p:nvPr/>
          </p:nvSpPr>
          <p:spPr>
            <a:xfrm>
              <a:off x="4079353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11"/>
            <p:cNvSpPr/>
            <p:nvPr/>
          </p:nvSpPr>
          <p:spPr>
            <a:xfrm>
              <a:off x="3501365" y="4745447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11"/>
            <p:cNvSpPr/>
            <p:nvPr/>
          </p:nvSpPr>
          <p:spPr>
            <a:xfrm>
              <a:off x="1942067" y="4965338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575764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764" y="570642"/>
                  </a:lnTo>
                  <a:lnTo>
                    <a:pt x="5757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11"/>
            <p:cNvSpPr/>
            <p:nvPr/>
          </p:nvSpPr>
          <p:spPr>
            <a:xfrm>
              <a:off x="1939235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11"/>
            <p:cNvSpPr/>
            <p:nvPr/>
          </p:nvSpPr>
          <p:spPr>
            <a:xfrm>
              <a:off x="1942067" y="4962507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120000" extrusionOk="0">
                  <a:moveTo>
                    <a:pt x="0" y="0"/>
                  </a:moveTo>
                  <a:lnTo>
                    <a:pt x="57577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11"/>
            <p:cNvSpPr/>
            <p:nvPr/>
          </p:nvSpPr>
          <p:spPr>
            <a:xfrm>
              <a:off x="2520670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11"/>
            <p:cNvSpPr/>
            <p:nvPr/>
          </p:nvSpPr>
          <p:spPr>
            <a:xfrm>
              <a:off x="1942067" y="5538812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120000" extrusionOk="0">
                  <a:moveTo>
                    <a:pt x="0" y="0"/>
                  </a:moveTo>
                  <a:lnTo>
                    <a:pt x="57577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11"/>
            <p:cNvSpPr/>
            <p:nvPr/>
          </p:nvSpPr>
          <p:spPr>
            <a:xfrm>
              <a:off x="1942067" y="4171974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575764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764" y="570642"/>
                  </a:lnTo>
                  <a:lnTo>
                    <a:pt x="5757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11"/>
            <p:cNvSpPr/>
            <p:nvPr/>
          </p:nvSpPr>
          <p:spPr>
            <a:xfrm>
              <a:off x="1939235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11"/>
            <p:cNvSpPr/>
            <p:nvPr/>
          </p:nvSpPr>
          <p:spPr>
            <a:xfrm>
              <a:off x="1942067" y="4169142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120000" extrusionOk="0">
                  <a:moveTo>
                    <a:pt x="0" y="0"/>
                  </a:moveTo>
                  <a:lnTo>
                    <a:pt x="57577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11"/>
            <p:cNvSpPr/>
            <p:nvPr/>
          </p:nvSpPr>
          <p:spPr>
            <a:xfrm>
              <a:off x="2520670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11"/>
            <p:cNvSpPr/>
            <p:nvPr/>
          </p:nvSpPr>
          <p:spPr>
            <a:xfrm>
              <a:off x="1942067" y="4745447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120000" extrusionOk="0">
                  <a:moveTo>
                    <a:pt x="0" y="0"/>
                  </a:moveTo>
                  <a:lnTo>
                    <a:pt x="57577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11"/>
            <p:cNvSpPr/>
            <p:nvPr/>
          </p:nvSpPr>
          <p:spPr>
            <a:xfrm>
              <a:off x="1942067" y="3383653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575764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764" y="570642"/>
                  </a:lnTo>
                  <a:lnTo>
                    <a:pt x="5757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11"/>
            <p:cNvSpPr/>
            <p:nvPr/>
          </p:nvSpPr>
          <p:spPr>
            <a:xfrm>
              <a:off x="1942067" y="3383653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642"/>
                  </a:moveTo>
                  <a:lnTo>
                    <a:pt x="575764" y="570642"/>
                  </a:lnTo>
                  <a:lnTo>
                    <a:pt x="575764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11"/>
            <p:cNvSpPr/>
            <p:nvPr/>
          </p:nvSpPr>
          <p:spPr>
            <a:xfrm>
              <a:off x="1942067" y="3383551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743"/>
                  </a:moveTo>
                  <a:lnTo>
                    <a:pt x="0" y="0"/>
                  </a:lnTo>
                </a:path>
                <a:path w="575944" h="570864" extrusionOk="0">
                  <a:moveTo>
                    <a:pt x="0" y="0"/>
                  </a:moveTo>
                  <a:lnTo>
                    <a:pt x="575779" y="0"/>
                  </a:lnTo>
                </a:path>
                <a:path w="575944" h="570864" extrusionOk="0">
                  <a:moveTo>
                    <a:pt x="575779" y="0"/>
                  </a:moveTo>
                  <a:lnTo>
                    <a:pt x="575779" y="570743"/>
                  </a:lnTo>
                </a:path>
                <a:path w="575944" h="570864" extrusionOk="0">
                  <a:moveTo>
                    <a:pt x="575779" y="570743"/>
                  </a:moveTo>
                  <a:lnTo>
                    <a:pt x="0" y="570743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1" name="Google Shape;951;p11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153811" y="3589692"/>
              <a:ext cx="151646" cy="159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2" name="Google Shape;952;p111"/>
            <p:cNvSpPr/>
            <p:nvPr/>
          </p:nvSpPr>
          <p:spPr>
            <a:xfrm>
              <a:off x="3501365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11"/>
            <p:cNvSpPr/>
            <p:nvPr/>
          </p:nvSpPr>
          <p:spPr>
            <a:xfrm>
              <a:off x="3501365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4" name="Google Shape;954;p11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713120" y="4378013"/>
              <a:ext cx="151646" cy="158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111"/>
            <p:cNvSpPr/>
            <p:nvPr/>
          </p:nvSpPr>
          <p:spPr>
            <a:xfrm>
              <a:off x="1942067" y="4965338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642"/>
                  </a:moveTo>
                  <a:lnTo>
                    <a:pt x="575764" y="570642"/>
                  </a:lnTo>
                  <a:lnTo>
                    <a:pt x="575764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11"/>
            <p:cNvSpPr/>
            <p:nvPr/>
          </p:nvSpPr>
          <p:spPr>
            <a:xfrm>
              <a:off x="1942067" y="4965338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944" h="570864" extrusionOk="0">
                  <a:moveTo>
                    <a:pt x="0" y="0"/>
                  </a:moveTo>
                  <a:lnTo>
                    <a:pt x="575779" y="0"/>
                  </a:lnTo>
                </a:path>
                <a:path w="575944" h="570864" extrusionOk="0">
                  <a:moveTo>
                    <a:pt x="575779" y="0"/>
                  </a:moveTo>
                  <a:lnTo>
                    <a:pt x="575779" y="570642"/>
                  </a:lnTo>
                </a:path>
                <a:path w="575944" h="570864" extrusionOk="0">
                  <a:moveTo>
                    <a:pt x="575779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7" name="Google Shape;957;p11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153811" y="5171377"/>
              <a:ext cx="151646" cy="158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111"/>
            <p:cNvSpPr/>
            <p:nvPr/>
          </p:nvSpPr>
          <p:spPr>
            <a:xfrm>
              <a:off x="1942067" y="4171974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642"/>
                  </a:moveTo>
                  <a:lnTo>
                    <a:pt x="575764" y="570642"/>
                  </a:lnTo>
                  <a:lnTo>
                    <a:pt x="575764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11"/>
            <p:cNvSpPr/>
            <p:nvPr/>
          </p:nvSpPr>
          <p:spPr>
            <a:xfrm>
              <a:off x="1942067" y="4171974"/>
              <a:ext cx="575945" cy="570865"/>
            </a:xfrm>
            <a:custGeom>
              <a:avLst/>
              <a:gdLst/>
              <a:ahLst/>
              <a:cxnLst/>
              <a:rect l="l" t="t" r="r" b="b"/>
              <a:pathLst>
                <a:path w="575944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944" h="570864" extrusionOk="0">
                  <a:moveTo>
                    <a:pt x="0" y="0"/>
                  </a:moveTo>
                  <a:lnTo>
                    <a:pt x="575779" y="0"/>
                  </a:lnTo>
                </a:path>
                <a:path w="575944" h="570864" extrusionOk="0">
                  <a:moveTo>
                    <a:pt x="575779" y="0"/>
                  </a:moveTo>
                  <a:lnTo>
                    <a:pt x="575779" y="570642"/>
                  </a:lnTo>
                </a:path>
                <a:path w="575944" h="570864" extrusionOk="0">
                  <a:moveTo>
                    <a:pt x="575779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0" name="Google Shape;960;p11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2153811" y="4378013"/>
              <a:ext cx="151646" cy="158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1" name="Google Shape;961;p111"/>
          <p:cNvGrpSpPr/>
          <p:nvPr/>
        </p:nvGrpSpPr>
        <p:grpSpPr>
          <a:xfrm>
            <a:off x="4955529" y="3286738"/>
            <a:ext cx="2345055" cy="2365375"/>
            <a:chOff x="4955529" y="3286738"/>
            <a:chExt cx="2345055" cy="2365375"/>
          </a:xfrm>
        </p:grpSpPr>
        <p:sp>
          <p:nvSpPr>
            <p:cNvPr id="962" name="Google Shape;962;p111"/>
            <p:cNvSpPr/>
            <p:nvPr/>
          </p:nvSpPr>
          <p:spPr>
            <a:xfrm>
              <a:off x="4955529" y="3291781"/>
              <a:ext cx="2345055" cy="2353310"/>
            </a:xfrm>
            <a:custGeom>
              <a:avLst/>
              <a:gdLst/>
              <a:ahLst/>
              <a:cxnLst/>
              <a:rect l="l" t="t" r="r" b="b"/>
              <a:pathLst>
                <a:path w="2345054" h="2353310" extrusionOk="0">
                  <a:moveTo>
                    <a:pt x="2344629" y="0"/>
                  </a:moveTo>
                  <a:lnTo>
                    <a:pt x="0" y="0"/>
                  </a:lnTo>
                  <a:lnTo>
                    <a:pt x="0" y="2353025"/>
                  </a:lnTo>
                  <a:lnTo>
                    <a:pt x="2344629" y="2353025"/>
                  </a:lnTo>
                  <a:lnTo>
                    <a:pt x="2344629" y="0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11"/>
            <p:cNvSpPr/>
            <p:nvPr/>
          </p:nvSpPr>
          <p:spPr>
            <a:xfrm>
              <a:off x="4955529" y="3291781"/>
              <a:ext cx="2345055" cy="2353310"/>
            </a:xfrm>
            <a:custGeom>
              <a:avLst/>
              <a:gdLst/>
              <a:ahLst/>
              <a:cxnLst/>
              <a:rect l="l" t="t" r="r" b="b"/>
              <a:pathLst>
                <a:path w="2345054" h="2353310" extrusionOk="0">
                  <a:moveTo>
                    <a:pt x="0" y="2353025"/>
                  </a:moveTo>
                  <a:lnTo>
                    <a:pt x="2344629" y="2353025"/>
                  </a:lnTo>
                  <a:lnTo>
                    <a:pt x="2344629" y="0"/>
                  </a:lnTo>
                  <a:lnTo>
                    <a:pt x="0" y="0"/>
                  </a:lnTo>
                  <a:lnTo>
                    <a:pt x="0" y="2353025"/>
                  </a:lnTo>
                  <a:close/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11"/>
            <p:cNvSpPr/>
            <p:nvPr/>
          </p:nvSpPr>
          <p:spPr>
            <a:xfrm>
              <a:off x="4955529" y="3291806"/>
              <a:ext cx="2345055" cy="2353310"/>
            </a:xfrm>
            <a:custGeom>
              <a:avLst/>
              <a:gdLst/>
              <a:ahLst/>
              <a:cxnLst/>
              <a:rect l="l" t="t" r="r" b="b"/>
              <a:pathLst>
                <a:path w="2345054" h="2353310" extrusionOk="0">
                  <a:moveTo>
                    <a:pt x="2344730" y="2353000"/>
                  </a:moveTo>
                  <a:lnTo>
                    <a:pt x="2344730" y="0"/>
                  </a:lnTo>
                </a:path>
                <a:path w="2345054" h="2353310" extrusionOk="0">
                  <a:moveTo>
                    <a:pt x="2344730" y="0"/>
                  </a:moveTo>
                  <a:lnTo>
                    <a:pt x="0" y="0"/>
                  </a:lnTo>
                </a:path>
                <a:path w="2345054" h="2353310" extrusionOk="0">
                  <a:moveTo>
                    <a:pt x="0" y="0"/>
                  </a:moveTo>
                  <a:lnTo>
                    <a:pt x="0" y="2353000"/>
                  </a:lnTo>
                </a:path>
                <a:path w="2345054" h="2353310" extrusionOk="0">
                  <a:moveTo>
                    <a:pt x="0" y="2353000"/>
                  </a:moveTo>
                  <a:lnTo>
                    <a:pt x="2344730" y="2353000"/>
                  </a:lnTo>
                </a:path>
              </a:pathLst>
            </a:custGeom>
            <a:noFill/>
            <a:ln w="23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11"/>
            <p:cNvSpPr/>
            <p:nvPr/>
          </p:nvSpPr>
          <p:spPr>
            <a:xfrm>
              <a:off x="6616866" y="3395590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11"/>
            <p:cNvSpPr/>
            <p:nvPr/>
          </p:nvSpPr>
          <p:spPr>
            <a:xfrm>
              <a:off x="6616866" y="3395590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11"/>
            <p:cNvSpPr/>
            <p:nvPr/>
          </p:nvSpPr>
          <p:spPr>
            <a:xfrm>
              <a:off x="6616866" y="3395716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0" y="570515"/>
                  </a:moveTo>
                  <a:lnTo>
                    <a:pt x="0" y="0"/>
                  </a:lnTo>
                </a:path>
                <a:path w="575309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09" h="570864" extrusionOk="0">
                  <a:moveTo>
                    <a:pt x="575156" y="0"/>
                  </a:moveTo>
                  <a:lnTo>
                    <a:pt x="575156" y="570515"/>
                  </a:lnTo>
                </a:path>
                <a:path w="575309" h="570864" extrusionOk="0">
                  <a:moveTo>
                    <a:pt x="575156" y="570515"/>
                  </a:moveTo>
                  <a:lnTo>
                    <a:pt x="0" y="570515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8" name="Google Shape;968;p11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6839679" y="3588228"/>
              <a:ext cx="138909" cy="207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111"/>
            <p:cNvSpPr/>
            <p:nvPr/>
          </p:nvSpPr>
          <p:spPr>
            <a:xfrm>
              <a:off x="4955529" y="3286738"/>
              <a:ext cx="2345055" cy="2365375"/>
            </a:xfrm>
            <a:custGeom>
              <a:avLst/>
              <a:gdLst/>
              <a:ahLst/>
              <a:cxnLst/>
              <a:rect l="l" t="t" r="r" b="b"/>
              <a:pathLst>
                <a:path w="2345054" h="2365375" extrusionOk="0">
                  <a:moveTo>
                    <a:pt x="1570589" y="0"/>
                  </a:moveTo>
                  <a:lnTo>
                    <a:pt x="1570589" y="2364988"/>
                  </a:lnTo>
                </a:path>
                <a:path w="2345054" h="2365375" extrusionOk="0">
                  <a:moveTo>
                    <a:pt x="774141" y="0"/>
                  </a:moveTo>
                  <a:lnTo>
                    <a:pt x="774141" y="2364988"/>
                  </a:lnTo>
                </a:path>
                <a:path w="2345054" h="2365375" extrusionOk="0">
                  <a:moveTo>
                    <a:pt x="0" y="1564730"/>
                  </a:moveTo>
                  <a:lnTo>
                    <a:pt x="2333323" y="1564730"/>
                  </a:lnTo>
                </a:path>
                <a:path w="2345054" h="2365375" extrusionOk="0">
                  <a:moveTo>
                    <a:pt x="0" y="776383"/>
                  </a:moveTo>
                  <a:lnTo>
                    <a:pt x="2344730" y="776383"/>
                  </a:lnTo>
                </a:path>
                <a:path w="2345054" h="2365375" extrusionOk="0">
                  <a:moveTo>
                    <a:pt x="1570589" y="11911"/>
                  </a:moveTo>
                  <a:lnTo>
                    <a:pt x="1570589" y="2364988"/>
                  </a:lnTo>
                </a:path>
                <a:path w="2345054" h="2365375" extrusionOk="0">
                  <a:moveTo>
                    <a:pt x="774141" y="0"/>
                  </a:moveTo>
                  <a:lnTo>
                    <a:pt x="774141" y="2353051"/>
                  </a:lnTo>
                </a:path>
                <a:path w="2345054" h="2365375" extrusionOk="0">
                  <a:moveTo>
                    <a:pt x="0" y="1564730"/>
                  </a:moveTo>
                  <a:lnTo>
                    <a:pt x="2333323" y="1564730"/>
                  </a:lnTo>
                </a:path>
                <a:path w="2345054" h="2365375" extrusionOk="0">
                  <a:moveTo>
                    <a:pt x="11913" y="776383"/>
                  </a:moveTo>
                  <a:lnTo>
                    <a:pt x="2344730" y="776383"/>
                  </a:lnTo>
                </a:path>
                <a:path w="2345054" h="2365375" extrusionOk="0">
                  <a:moveTo>
                    <a:pt x="2344730" y="2358069"/>
                  </a:moveTo>
                  <a:lnTo>
                    <a:pt x="2344730" y="5068"/>
                  </a:lnTo>
                </a:path>
                <a:path w="2345054" h="2365375" extrusionOk="0">
                  <a:moveTo>
                    <a:pt x="2344730" y="5068"/>
                  </a:moveTo>
                  <a:lnTo>
                    <a:pt x="0" y="5068"/>
                  </a:lnTo>
                </a:path>
                <a:path w="2345054" h="2365375" extrusionOk="0">
                  <a:moveTo>
                    <a:pt x="0" y="5068"/>
                  </a:moveTo>
                  <a:lnTo>
                    <a:pt x="0" y="2358069"/>
                  </a:lnTo>
                </a:path>
                <a:path w="2345054" h="2365375" extrusionOk="0">
                  <a:moveTo>
                    <a:pt x="0" y="2358069"/>
                  </a:moveTo>
                  <a:lnTo>
                    <a:pt x="2344730" y="2358069"/>
                  </a:lnTo>
                </a:path>
              </a:pathLst>
            </a:custGeom>
            <a:noFill/>
            <a:ln w="23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11"/>
            <p:cNvSpPr/>
            <p:nvPr/>
          </p:nvSpPr>
          <p:spPr>
            <a:xfrm>
              <a:off x="5839683" y="3395590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11"/>
            <p:cNvSpPr/>
            <p:nvPr/>
          </p:nvSpPr>
          <p:spPr>
            <a:xfrm>
              <a:off x="5839683" y="3395590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11"/>
            <p:cNvSpPr/>
            <p:nvPr/>
          </p:nvSpPr>
          <p:spPr>
            <a:xfrm>
              <a:off x="5839683" y="3395716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515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515"/>
                  </a:lnTo>
                </a:path>
                <a:path w="575310" h="570864" extrusionOk="0">
                  <a:moveTo>
                    <a:pt x="575156" y="570515"/>
                  </a:moveTo>
                  <a:lnTo>
                    <a:pt x="0" y="570515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3" name="Google Shape;973;p11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6087844" y="3588228"/>
              <a:ext cx="90240" cy="207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111"/>
            <p:cNvSpPr/>
            <p:nvPr/>
          </p:nvSpPr>
          <p:spPr>
            <a:xfrm>
              <a:off x="505058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11"/>
            <p:cNvSpPr/>
            <p:nvPr/>
          </p:nvSpPr>
          <p:spPr>
            <a:xfrm>
              <a:off x="505058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11"/>
            <p:cNvSpPr/>
            <p:nvPr/>
          </p:nvSpPr>
          <p:spPr>
            <a:xfrm>
              <a:off x="505058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7" name="Google Shape;977;p11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277201" y="4362711"/>
              <a:ext cx="121925" cy="2130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p111"/>
            <p:cNvSpPr/>
            <p:nvPr/>
          </p:nvSpPr>
          <p:spPr>
            <a:xfrm>
              <a:off x="661686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11"/>
            <p:cNvSpPr/>
            <p:nvPr/>
          </p:nvSpPr>
          <p:spPr>
            <a:xfrm>
              <a:off x="6614034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11"/>
            <p:cNvSpPr/>
            <p:nvPr/>
          </p:nvSpPr>
          <p:spPr>
            <a:xfrm>
              <a:off x="6616866" y="4169142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11"/>
            <p:cNvSpPr/>
            <p:nvPr/>
          </p:nvSpPr>
          <p:spPr>
            <a:xfrm>
              <a:off x="7194854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11"/>
            <p:cNvSpPr/>
            <p:nvPr/>
          </p:nvSpPr>
          <p:spPr>
            <a:xfrm>
              <a:off x="6616866" y="4745447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11"/>
            <p:cNvSpPr/>
            <p:nvPr/>
          </p:nvSpPr>
          <p:spPr>
            <a:xfrm>
              <a:off x="5057430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11"/>
            <p:cNvSpPr/>
            <p:nvPr/>
          </p:nvSpPr>
          <p:spPr>
            <a:xfrm>
              <a:off x="5054598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11"/>
            <p:cNvSpPr/>
            <p:nvPr/>
          </p:nvSpPr>
          <p:spPr>
            <a:xfrm>
              <a:off x="5057430" y="4962507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11"/>
            <p:cNvSpPr/>
            <p:nvPr/>
          </p:nvSpPr>
          <p:spPr>
            <a:xfrm>
              <a:off x="5635418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11"/>
            <p:cNvSpPr/>
            <p:nvPr/>
          </p:nvSpPr>
          <p:spPr>
            <a:xfrm>
              <a:off x="5057430" y="5538812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11"/>
            <p:cNvSpPr/>
            <p:nvPr/>
          </p:nvSpPr>
          <p:spPr>
            <a:xfrm>
              <a:off x="583968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11"/>
            <p:cNvSpPr/>
            <p:nvPr/>
          </p:nvSpPr>
          <p:spPr>
            <a:xfrm>
              <a:off x="5836851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11"/>
            <p:cNvSpPr/>
            <p:nvPr/>
          </p:nvSpPr>
          <p:spPr>
            <a:xfrm>
              <a:off x="5839683" y="4962507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11"/>
            <p:cNvSpPr/>
            <p:nvPr/>
          </p:nvSpPr>
          <p:spPr>
            <a:xfrm>
              <a:off x="6417671" y="4965338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11"/>
            <p:cNvSpPr/>
            <p:nvPr/>
          </p:nvSpPr>
          <p:spPr>
            <a:xfrm>
              <a:off x="5839683" y="5538812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11"/>
            <p:cNvSpPr/>
            <p:nvPr/>
          </p:nvSpPr>
          <p:spPr>
            <a:xfrm>
              <a:off x="5839683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575156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5156" y="570642"/>
                  </a:lnTo>
                  <a:lnTo>
                    <a:pt x="575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11"/>
            <p:cNvSpPr/>
            <p:nvPr/>
          </p:nvSpPr>
          <p:spPr>
            <a:xfrm>
              <a:off x="5836851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11"/>
            <p:cNvSpPr/>
            <p:nvPr/>
          </p:nvSpPr>
          <p:spPr>
            <a:xfrm>
              <a:off x="5839683" y="4169142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11"/>
            <p:cNvSpPr/>
            <p:nvPr/>
          </p:nvSpPr>
          <p:spPr>
            <a:xfrm>
              <a:off x="6417671" y="4171974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w="120000" h="570864" extrusionOk="0">
                  <a:moveTo>
                    <a:pt x="0" y="0"/>
                  </a:moveTo>
                  <a:lnTo>
                    <a:pt x="0" y="57064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11"/>
            <p:cNvSpPr/>
            <p:nvPr/>
          </p:nvSpPr>
          <p:spPr>
            <a:xfrm>
              <a:off x="5839683" y="4745447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10" h="120000" extrusionOk="0">
                  <a:moveTo>
                    <a:pt x="0" y="0"/>
                  </a:moveTo>
                  <a:lnTo>
                    <a:pt x="5751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11"/>
            <p:cNvSpPr/>
            <p:nvPr/>
          </p:nvSpPr>
          <p:spPr>
            <a:xfrm>
              <a:off x="583968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11"/>
            <p:cNvSpPr/>
            <p:nvPr/>
          </p:nvSpPr>
          <p:spPr>
            <a:xfrm>
              <a:off x="5839683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0" name="Google Shape;1000;p111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6051362" y="5171377"/>
              <a:ext cx="151798" cy="158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111"/>
            <p:cNvSpPr/>
            <p:nvPr/>
          </p:nvSpPr>
          <p:spPr>
            <a:xfrm>
              <a:off x="5057430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11"/>
            <p:cNvSpPr/>
            <p:nvPr/>
          </p:nvSpPr>
          <p:spPr>
            <a:xfrm>
              <a:off x="5057430" y="4965338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3" name="Google Shape;1003;p111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5269362" y="5171377"/>
              <a:ext cx="151544" cy="158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111"/>
            <p:cNvSpPr/>
            <p:nvPr/>
          </p:nvSpPr>
          <p:spPr>
            <a:xfrm>
              <a:off x="661686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11"/>
            <p:cNvSpPr/>
            <p:nvPr/>
          </p:nvSpPr>
          <p:spPr>
            <a:xfrm>
              <a:off x="6616866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09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09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09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09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6" name="Google Shape;1006;p111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6828545" y="4378013"/>
              <a:ext cx="151798" cy="158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111"/>
            <p:cNvSpPr/>
            <p:nvPr/>
          </p:nvSpPr>
          <p:spPr>
            <a:xfrm>
              <a:off x="6618134" y="4952108"/>
              <a:ext cx="574040" cy="570865"/>
            </a:xfrm>
            <a:custGeom>
              <a:avLst/>
              <a:gdLst/>
              <a:ahLst/>
              <a:cxnLst/>
              <a:rect l="l" t="t" r="r" b="b"/>
              <a:pathLst>
                <a:path w="574040" h="570864" extrusionOk="0">
                  <a:moveTo>
                    <a:pt x="573888" y="0"/>
                  </a:moveTo>
                  <a:lnTo>
                    <a:pt x="0" y="0"/>
                  </a:lnTo>
                  <a:lnTo>
                    <a:pt x="0" y="570642"/>
                  </a:lnTo>
                  <a:lnTo>
                    <a:pt x="573888" y="570642"/>
                  </a:lnTo>
                  <a:lnTo>
                    <a:pt x="5738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11"/>
            <p:cNvSpPr/>
            <p:nvPr/>
          </p:nvSpPr>
          <p:spPr>
            <a:xfrm>
              <a:off x="6618134" y="4952108"/>
              <a:ext cx="574040" cy="570865"/>
            </a:xfrm>
            <a:custGeom>
              <a:avLst/>
              <a:gdLst/>
              <a:ahLst/>
              <a:cxnLst/>
              <a:rect l="l" t="t" r="r" b="b"/>
              <a:pathLst>
                <a:path w="574040" h="570864" extrusionOk="0">
                  <a:moveTo>
                    <a:pt x="0" y="570642"/>
                  </a:moveTo>
                  <a:lnTo>
                    <a:pt x="573888" y="570642"/>
                  </a:lnTo>
                  <a:lnTo>
                    <a:pt x="573888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11"/>
            <p:cNvSpPr/>
            <p:nvPr/>
          </p:nvSpPr>
          <p:spPr>
            <a:xfrm>
              <a:off x="6618134" y="4952108"/>
              <a:ext cx="574040" cy="570865"/>
            </a:xfrm>
            <a:custGeom>
              <a:avLst/>
              <a:gdLst/>
              <a:ahLst/>
              <a:cxnLst/>
              <a:rect l="l" t="t" r="r" b="b"/>
              <a:pathLst>
                <a:path w="57404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4040" h="570864" extrusionOk="0">
                  <a:moveTo>
                    <a:pt x="0" y="0"/>
                  </a:moveTo>
                  <a:lnTo>
                    <a:pt x="573888" y="0"/>
                  </a:lnTo>
                </a:path>
                <a:path w="574040" h="570864" extrusionOk="0">
                  <a:moveTo>
                    <a:pt x="573888" y="0"/>
                  </a:moveTo>
                  <a:lnTo>
                    <a:pt x="573888" y="570642"/>
                  </a:lnTo>
                </a:path>
                <a:path w="574040" h="570864" extrusionOk="0">
                  <a:moveTo>
                    <a:pt x="573888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10" name="Google Shape;1010;p111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6828545" y="5158173"/>
              <a:ext cx="153065" cy="158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11"/>
            <p:cNvSpPr/>
            <p:nvPr/>
          </p:nvSpPr>
          <p:spPr>
            <a:xfrm>
              <a:off x="5839683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575156" y="570642"/>
                  </a:lnTo>
                  <a:lnTo>
                    <a:pt x="575156" y="0"/>
                  </a:lnTo>
                  <a:lnTo>
                    <a:pt x="0" y="0"/>
                  </a:lnTo>
                  <a:lnTo>
                    <a:pt x="0" y="570642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11"/>
            <p:cNvSpPr/>
            <p:nvPr/>
          </p:nvSpPr>
          <p:spPr>
            <a:xfrm>
              <a:off x="5839683" y="4171974"/>
              <a:ext cx="575310" cy="570865"/>
            </a:xfrm>
            <a:custGeom>
              <a:avLst/>
              <a:gdLst/>
              <a:ahLst/>
              <a:cxnLst/>
              <a:rect l="l" t="t" r="r" b="b"/>
              <a:pathLst>
                <a:path w="575310" h="570864" extrusionOk="0">
                  <a:moveTo>
                    <a:pt x="0" y="570642"/>
                  </a:moveTo>
                  <a:lnTo>
                    <a:pt x="0" y="0"/>
                  </a:lnTo>
                </a:path>
                <a:path w="575310" h="570864" extrusionOk="0">
                  <a:moveTo>
                    <a:pt x="0" y="0"/>
                  </a:moveTo>
                  <a:lnTo>
                    <a:pt x="575156" y="0"/>
                  </a:lnTo>
                </a:path>
                <a:path w="575310" h="570864" extrusionOk="0">
                  <a:moveTo>
                    <a:pt x="575156" y="0"/>
                  </a:moveTo>
                  <a:lnTo>
                    <a:pt x="575156" y="570642"/>
                  </a:lnTo>
                </a:path>
                <a:path w="575310" h="570864" extrusionOk="0">
                  <a:moveTo>
                    <a:pt x="575156" y="570642"/>
                  </a:moveTo>
                  <a:lnTo>
                    <a:pt x="0" y="570642"/>
                  </a:lnTo>
                </a:path>
              </a:pathLst>
            </a:custGeom>
            <a:noFill/>
            <a:ln w="113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13" name="Google Shape;1013;p111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6057680" y="4364612"/>
              <a:ext cx="143725" cy="2073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4" name="Google Shape;1014;p111"/>
          <p:cNvSpPr txBox="1">
            <a:spLocks noGrp="1"/>
          </p:cNvSpPr>
          <p:nvPr>
            <p:ph type="sldNum" idx="12"/>
          </p:nvPr>
        </p:nvSpPr>
        <p:spPr>
          <a:xfrm>
            <a:off x="8582977" y="6502652"/>
            <a:ext cx="334009" cy="2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  <p:sp>
        <p:nvSpPr>
          <p:cNvPr id="1015" name="Google Shape;1015;p111"/>
          <p:cNvSpPr txBox="1">
            <a:spLocks noGrp="1"/>
          </p:cNvSpPr>
          <p:nvPr>
            <p:ph type="ftr" idx="11"/>
          </p:nvPr>
        </p:nvSpPr>
        <p:spPr>
          <a:xfrm>
            <a:off x="383540" y="6593512"/>
            <a:ext cx="18828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7658</Words>
  <Application>Microsoft Office PowerPoint</Application>
  <PresentationFormat>On-screen Show (4:3)</PresentationFormat>
  <Paragraphs>803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Calibri</vt:lpstr>
      <vt:lpstr>Noto Sans Symbols</vt:lpstr>
      <vt:lpstr>Times New Roman</vt:lpstr>
      <vt:lpstr>MS PGothic</vt:lpstr>
      <vt:lpstr>Proxima Nova</vt:lpstr>
      <vt:lpstr>Arial</vt:lpstr>
      <vt:lpstr>Office Theme</vt:lpstr>
      <vt:lpstr>PowerPoint Presentation</vt:lpstr>
      <vt:lpstr>How do we plan our holiday?</vt:lpstr>
      <vt:lpstr>How do we plan our holiday?</vt:lpstr>
      <vt:lpstr>Many problems can be solved by search:</vt:lpstr>
      <vt:lpstr>Why Search?</vt:lpstr>
      <vt:lpstr>Limitations of Search</vt:lpstr>
      <vt:lpstr>Representing a problem: The Formalism</vt:lpstr>
      <vt:lpstr>The Formalism</vt:lpstr>
      <vt:lpstr>Example 1: Romania Travel.</vt:lpstr>
      <vt:lpstr>Example 1.</vt:lpstr>
      <vt:lpstr>Example 2: Filling Water Jugs</vt:lpstr>
      <vt:lpstr>Example 2.</vt:lpstr>
      <vt:lpstr>Algorithms for Search</vt:lpstr>
      <vt:lpstr>Algorithms for Search</vt:lpstr>
      <vt:lpstr>Algorithms for Search</vt:lpstr>
      <vt:lpstr>Template for Search Algorithms</vt:lpstr>
      <vt:lpstr>Template for Search Algorithms</vt:lpstr>
      <vt:lpstr>Template for Search Algorithms</vt:lpstr>
      <vt:lpstr>PowerPoint Presentation</vt:lpstr>
      <vt:lpstr>PowerPoint Presentation</vt:lpstr>
      <vt:lpstr>PowerPoint Presentation</vt:lpstr>
      <vt:lpstr>Selection Rule</vt:lpstr>
      <vt:lpstr>Critical Properties of Search</vt:lpstr>
      <vt:lpstr>Food for Thought - I</vt:lpstr>
      <vt:lpstr>Uninformed Search Strategies</vt:lpstr>
      <vt:lpstr>Breadth-­First Search</vt:lpstr>
      <vt:lpstr>Breadth-­First Search</vt:lpstr>
      <vt:lpstr>Breadth-­First Search</vt:lpstr>
      <vt:lpstr>Breadth-­First Properties</vt:lpstr>
      <vt:lpstr>PowerPoint Presentation</vt:lpstr>
      <vt:lpstr>Breadth-­First Properties</vt:lpstr>
      <vt:lpstr>Uniform-­Cost Search</vt:lpstr>
      <vt:lpstr>Uniform-­Cost Search</vt:lpstr>
      <vt:lpstr>Uniform-­Cost Search</vt:lpstr>
      <vt:lpstr>Uniform-­Cost Properties</vt:lpstr>
      <vt:lpstr>Uniform-­Cost Search : Proof of Optimality</vt:lpstr>
      <vt:lpstr>Uniform-­Cost Search : Proof of Optimality</vt:lpstr>
      <vt:lpstr>Uniform-­Cost Search : Proof of Optimality</vt:lpstr>
      <vt:lpstr>Food for Thought - II</vt:lpstr>
      <vt:lpstr>Depth-­First Search</vt:lpstr>
      <vt:lpstr>Depth-­First Search</vt:lpstr>
      <vt:lpstr>Depth-­First Search</vt:lpstr>
      <vt:lpstr>Depth-­First Search</vt:lpstr>
      <vt:lpstr>Depth-­First Properties</vt:lpstr>
      <vt:lpstr>Depth-­Limited Search</vt:lpstr>
      <vt:lpstr>Depth-Limited Search</vt:lpstr>
      <vt:lpstr>Depth-Limited Search</vt:lpstr>
      <vt:lpstr>Iterative Deepening Search</vt:lpstr>
      <vt:lpstr>Iterative Deepening Search</vt:lpstr>
      <vt:lpstr>Iterative Deepening Search</vt:lpstr>
      <vt:lpstr>Iterative Deepening Search Properties</vt:lpstr>
      <vt:lpstr>Food for Thought - III</vt:lpstr>
      <vt:lpstr>Heuristic Search (Informed Search)</vt:lpstr>
      <vt:lpstr>Heuristic Search</vt:lpstr>
      <vt:lpstr>Heuristic Search</vt:lpstr>
      <vt:lpstr>Heuristic Search</vt:lpstr>
      <vt:lpstr>Example: Euclidean distance</vt:lpstr>
      <vt:lpstr>Heuristic Search</vt:lpstr>
      <vt:lpstr>Using only h(n): Greedy best-­‐first search</vt:lpstr>
      <vt:lpstr>Greedy best-­‐first search example</vt:lpstr>
      <vt:lpstr>A* search</vt:lpstr>
      <vt:lpstr>A* example</vt:lpstr>
      <vt:lpstr>A* example</vt:lpstr>
      <vt:lpstr>A* example</vt:lpstr>
      <vt:lpstr>A* example</vt:lpstr>
      <vt:lpstr>A* example</vt:lpstr>
      <vt:lpstr>A* example</vt:lpstr>
      <vt:lpstr>Properties of A* depend on conditions on h(n)</vt:lpstr>
      <vt:lpstr>Conditions on h(n): Admissible</vt:lpstr>
      <vt:lpstr>Consistency (aka monotonicity)</vt:lpstr>
      <vt:lpstr>Consistency 🡺 Admissible</vt:lpstr>
      <vt:lpstr>Intuition behind admissibility</vt:lpstr>
      <vt:lpstr>Consequences of monotonicity</vt:lpstr>
      <vt:lpstr>Consequences of monotonicity</vt:lpstr>
      <vt:lpstr>Consequences of monotonicity</vt:lpstr>
      <vt:lpstr>Consequences of monotonicity</vt:lpstr>
      <vt:lpstr>Consequences of monotonicity</vt:lpstr>
      <vt:lpstr>Consequences of monotonicity</vt:lpstr>
      <vt:lpstr>Consequences of monotonicity</vt:lpstr>
      <vt:lpstr>Admissibility without monotonicity</vt:lpstr>
      <vt:lpstr>Admissibility without monotonicity</vt:lpstr>
      <vt:lpstr>Space Problems with A*</vt:lpstr>
      <vt:lpstr>IDA* -­‐ Iterative Deepening A*</vt:lpstr>
      <vt:lpstr>Constructing Heuristics</vt:lpstr>
      <vt:lpstr>Building Heuristics: Relaxed Problem</vt:lpstr>
      <vt:lpstr>Building Heuristics: Relaxed Problem</vt:lpstr>
      <vt:lpstr>Building Heuristics: Relaxed Problem</vt:lpstr>
      <vt:lpstr>Building Heuristics: Relaxed Problem</vt:lpstr>
      <vt:lpstr>Building Heuristics: Pattern databases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peteti CHARANTEJ</cp:lastModifiedBy>
  <cp:revision>2</cp:revision>
  <dcterms:created xsi:type="dcterms:W3CDTF">2026-01-23T09:41:51Z</dcterms:created>
  <dcterms:modified xsi:type="dcterms:W3CDTF">2026-02-09T04:13:40Z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2026-01-23T00:00:00Z</vt:filetime>
  </property>
  <property fmtid="{D5CDD505-2E9C-101B-9397-08002B2CF9AE}" pid="3" name="Producer">
    <vt:lpwstr>3-Heights(TM) PDF Security Shell 4.8.25.2 (http://www.pdf-tools.com)</vt:lpwstr>
  </property>
</Properties>
</file>